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pptx" ContentType="application/vnd.openxmlformats-officedocument.presentationml.presentation"/>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57" r:id="rId3"/>
    <p:sldId id="258" r:id="rId4"/>
    <p:sldId id="259" r:id="rId5"/>
    <p:sldId id="282" r:id="rId6"/>
    <p:sldId id="276" r:id="rId7"/>
    <p:sldId id="260" r:id="rId8"/>
    <p:sldId id="277" r:id="rId9"/>
    <p:sldId id="281" r:id="rId10"/>
    <p:sldId id="283" r:id="rId11"/>
    <p:sldId id="278" r:id="rId12"/>
    <p:sldId id="279" r:id="rId13"/>
    <p:sldId id="284" r:id="rId14"/>
    <p:sldId id="261" r:id="rId15"/>
    <p:sldId id="267" r:id="rId16"/>
    <p:sldId id="262" r:id="rId17"/>
    <p:sldId id="264" r:id="rId18"/>
    <p:sldId id="266" r:id="rId19"/>
    <p:sldId id="269" r:id="rId20"/>
  </p:sldIdLst>
  <p:sldSz cx="18288000" cy="10287000"/>
  <p:notesSz cx="6858000" cy="9144000"/>
  <p:embeddedFontLst>
    <p:embeddedFont>
      <p:font typeface="Calibri" panose="020F0502020204030204" pitchFamily="34" charset="0"/>
      <p:regular r:id="rId22"/>
      <p:bold r:id="rId23"/>
      <p:italic r:id="rId24"/>
      <p:boldItalic r:id="rId25"/>
    </p:embeddedFont>
    <p:embeddedFont>
      <p:font typeface="Montserrat Bold" panose="020B0604020202020204" charset="0"/>
      <p:regular r:id="rId26"/>
    </p:embeddedFont>
    <p:embeddedFont>
      <p:font typeface="Open Sans Bold" panose="020B0604020202020204" charset="0"/>
      <p:regular r:id="rId27"/>
    </p:embeddedFont>
    <p:embeddedFont>
      <p:font typeface="Open Sauce Bold" panose="020B0604020202020204" charset="0"/>
      <p:regular r:id="rId28"/>
    </p:embeddedFont>
    <p:embeddedFont>
      <p:font typeface="Tex Gyre Bonum" panose="020B0604020202020204" charset="0"/>
      <p:regular r:id="rId29"/>
    </p:embeddedFont>
    <p:embeddedFont>
      <p:font typeface="Tex Gyre Bonum Bold"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379" autoAdjust="0"/>
  </p:normalViewPr>
  <p:slideViewPr>
    <p:cSldViewPr>
      <p:cViewPr varScale="1">
        <p:scale>
          <a:sx n="56" d="100"/>
          <a:sy n="56" d="100"/>
        </p:scale>
        <p:origin x="42" y="119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77FA70-63A6-41E3-A30F-FB65D98B8799}" type="datetimeFigureOut">
              <a:rPr lang="en-IN" smtClean="0"/>
              <a:t>04-09-2026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DDC955-9E3D-4271-97A1-B015CA253234}" type="slidenum">
              <a:rPr lang="en-IN" smtClean="0"/>
              <a:t>‹#›</a:t>
            </a:fld>
            <a:endParaRPr lang="en-IN"/>
          </a:p>
        </p:txBody>
      </p:sp>
    </p:spTree>
    <p:extLst>
      <p:ext uri="{BB962C8B-B14F-4D97-AF65-F5344CB8AC3E}">
        <p14:creationId xmlns:p14="http://schemas.microsoft.com/office/powerpoint/2010/main" val="2293845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14.jpeg"/></Relationships>
</file>

<file path=ppt/slides/_rels/slide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1.sv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7.svg"/><Relationship Id="rId7"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slide" Target="slide4.xml"/><Relationship Id="rId5" Type="http://schemas.openxmlformats.org/officeDocument/2006/relationships/image" Target="../media/image13.sv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1.sv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1.sv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1.sv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1.sv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1.sv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20.emf"/><Relationship Id="rId4" Type="http://schemas.openxmlformats.org/officeDocument/2006/relationships/image" Target="../media/image13.svg"/><Relationship Id="rId9" Type="http://schemas.openxmlformats.org/officeDocument/2006/relationships/package" Target="../embeddings/Microsoft_PowerPoint_Presentation.pptx"/></Relationships>
</file>

<file path=ppt/slides/_rels/slide14.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1.sv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1.sv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1.sv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1.sv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1.sv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EFEC"/>
        </a:solidFill>
        <a:effectLst/>
      </p:bgPr>
    </p:bg>
    <p:spTree>
      <p:nvGrpSpPr>
        <p:cNvPr id="1" name=""/>
        <p:cNvGrpSpPr/>
        <p:nvPr/>
      </p:nvGrpSpPr>
      <p:grpSpPr>
        <a:xfrm>
          <a:off x="0" y="0"/>
          <a:ext cx="0" cy="0"/>
          <a:chOff x="0" y="0"/>
          <a:chExt cx="0" cy="0"/>
        </a:xfrm>
      </p:grpSpPr>
      <p:sp>
        <p:nvSpPr>
          <p:cNvPr id="2" name="Freeform 2"/>
          <p:cNvSpPr/>
          <p:nvPr/>
        </p:nvSpPr>
        <p:spPr>
          <a:xfrm rot="8189276">
            <a:off x="7207998" y="6805646"/>
            <a:ext cx="8937933" cy="8937933"/>
          </a:xfrm>
          <a:custGeom>
            <a:avLst/>
            <a:gdLst/>
            <a:ahLst/>
            <a:cxnLst/>
            <a:rect l="l" t="t" r="r" b="b"/>
            <a:pathLst>
              <a:path w="8937933" h="8937933">
                <a:moveTo>
                  <a:pt x="0" y="0"/>
                </a:moveTo>
                <a:lnTo>
                  <a:pt x="8937933" y="0"/>
                </a:lnTo>
                <a:lnTo>
                  <a:pt x="8937933" y="8937933"/>
                </a:lnTo>
                <a:lnTo>
                  <a:pt x="0" y="89379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6123235">
            <a:off x="10949097" y="2171238"/>
            <a:ext cx="17696379" cy="17696379"/>
          </a:xfrm>
          <a:custGeom>
            <a:avLst/>
            <a:gdLst/>
            <a:ahLst/>
            <a:cxnLst/>
            <a:rect l="l" t="t" r="r" b="b"/>
            <a:pathLst>
              <a:path w="17696379" h="17696379">
                <a:moveTo>
                  <a:pt x="0" y="0"/>
                </a:moveTo>
                <a:lnTo>
                  <a:pt x="17696379" y="0"/>
                </a:lnTo>
                <a:lnTo>
                  <a:pt x="17696379" y="17696379"/>
                </a:lnTo>
                <a:lnTo>
                  <a:pt x="0" y="176963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4" name="Freeform 4"/>
          <p:cNvSpPr/>
          <p:nvPr/>
        </p:nvSpPr>
        <p:spPr>
          <a:xfrm>
            <a:off x="11289746" y="1859546"/>
            <a:ext cx="5778062" cy="5778062"/>
          </a:xfrm>
          <a:custGeom>
            <a:avLst/>
            <a:gdLst/>
            <a:ahLst/>
            <a:cxnLst/>
            <a:rect l="l" t="t" r="r" b="b"/>
            <a:pathLst>
              <a:path w="5778062" h="5778062">
                <a:moveTo>
                  <a:pt x="0" y="0"/>
                </a:moveTo>
                <a:lnTo>
                  <a:pt x="5778063" y="0"/>
                </a:lnTo>
                <a:lnTo>
                  <a:pt x="5778063" y="5778062"/>
                </a:lnTo>
                <a:lnTo>
                  <a:pt x="0" y="5778062"/>
                </a:lnTo>
                <a:lnTo>
                  <a:pt x="0" y="0"/>
                </a:lnTo>
                <a:close/>
              </a:path>
            </a:pathLst>
          </a:custGeom>
          <a:blipFill>
            <a:blip r:embed="rId6">
              <a:alphaModFix amt="89000"/>
            </a:blip>
            <a:stretch>
              <a:fillRect/>
            </a:stretch>
          </a:blipFill>
        </p:spPr>
        <p:txBody>
          <a:bodyPr/>
          <a:lstStyle/>
          <a:p>
            <a:endParaRPr lang="en-US"/>
          </a:p>
        </p:txBody>
      </p:sp>
      <p:sp>
        <p:nvSpPr>
          <p:cNvPr id="5" name="TextBox 5"/>
          <p:cNvSpPr txBox="1"/>
          <p:nvPr/>
        </p:nvSpPr>
        <p:spPr>
          <a:xfrm>
            <a:off x="838200" y="1119446"/>
            <a:ext cx="9953287" cy="3780074"/>
          </a:xfrm>
          <a:prstGeom prst="rect">
            <a:avLst/>
          </a:prstGeom>
        </p:spPr>
        <p:txBody>
          <a:bodyPr wrap="square" lIns="0" tIns="0" rIns="0" bIns="0" rtlCol="0" anchor="t">
            <a:spAutoFit/>
          </a:bodyPr>
          <a:lstStyle/>
          <a:p>
            <a:pPr algn="just">
              <a:lnSpc>
                <a:spcPts val="9999"/>
              </a:lnSpc>
            </a:pPr>
            <a:endParaRPr dirty="0"/>
          </a:p>
          <a:p>
            <a:pPr algn="ctr">
              <a:lnSpc>
                <a:spcPts val="9999"/>
              </a:lnSpc>
            </a:pPr>
            <a:r>
              <a:rPr lang="en-US" sz="9999" b="1" spc="-339" dirty="0">
                <a:solidFill>
                  <a:srgbClr val="2E2E2E"/>
                </a:solidFill>
                <a:latin typeface="Montserrat Bold"/>
                <a:ea typeface="Montserrat Bold"/>
                <a:cs typeface="Montserrat Bold"/>
                <a:sym typeface="Montserrat Bold"/>
              </a:rPr>
              <a:t> </a:t>
            </a:r>
            <a:r>
              <a:rPr lang="en-US" sz="8000" b="1" spc="-339" dirty="0">
                <a:solidFill>
                  <a:srgbClr val="2E2E2E"/>
                </a:solidFill>
                <a:latin typeface="Montserrat Bold"/>
                <a:ea typeface="Montserrat Bold"/>
                <a:cs typeface="Montserrat Bold"/>
                <a:sym typeface="Montserrat Bold"/>
              </a:rPr>
              <a:t>INDUCTION  PROGRAM:2026-27</a:t>
            </a:r>
            <a:endParaRPr lang="en-US" sz="9999" b="1" spc="-339" dirty="0">
              <a:solidFill>
                <a:srgbClr val="2E2E2E"/>
              </a:solidFill>
              <a:latin typeface="Montserrat Bold"/>
              <a:ea typeface="Montserrat Bold"/>
              <a:cs typeface="Montserrat Bold"/>
              <a:sym typeface="Montserrat Bold"/>
            </a:endParaRPr>
          </a:p>
        </p:txBody>
      </p:sp>
      <p:sp>
        <p:nvSpPr>
          <p:cNvPr id="6" name="TextBox 6"/>
          <p:cNvSpPr txBox="1"/>
          <p:nvPr/>
        </p:nvSpPr>
        <p:spPr>
          <a:xfrm>
            <a:off x="3954196" y="494297"/>
            <a:ext cx="13305104" cy="1308099"/>
          </a:xfrm>
          <a:prstGeom prst="rect">
            <a:avLst/>
          </a:prstGeom>
        </p:spPr>
        <p:txBody>
          <a:bodyPr lIns="0" tIns="0" rIns="0" bIns="0" rtlCol="0" anchor="t">
            <a:spAutoFit/>
          </a:bodyPr>
          <a:lstStyle/>
          <a:p>
            <a:pPr algn="ctr">
              <a:lnSpc>
                <a:spcPts val="3500"/>
              </a:lnSpc>
            </a:pPr>
            <a:r>
              <a:rPr lang="en-US" sz="2800" b="1" dirty="0">
                <a:solidFill>
                  <a:srgbClr val="2E2E2E"/>
                </a:solidFill>
                <a:latin typeface="Open Sans Bold"/>
                <a:ea typeface="Open Sans Bold"/>
                <a:cs typeface="Open Sans Bold"/>
                <a:sym typeface="Open Sans Bold"/>
              </a:rPr>
              <a:t>SHRI GURU GOBIND SINGHJI INSTITUTE OF ENGINEERING AND TECHNOLOGY,VISHNUPURI, NANDED-431606, [M.S], INDIA.</a:t>
            </a:r>
          </a:p>
          <a:p>
            <a:pPr algn="l">
              <a:lnSpc>
                <a:spcPts val="3500"/>
              </a:lnSpc>
            </a:pPr>
            <a:endParaRPr lang="en-US" sz="2500" b="1" dirty="0">
              <a:solidFill>
                <a:srgbClr val="2E2E2E"/>
              </a:solidFill>
              <a:latin typeface="Open Sans Bold"/>
              <a:ea typeface="Open Sans Bold"/>
              <a:cs typeface="Open Sans Bold"/>
              <a:sym typeface="Open Sans Bold"/>
            </a:endParaRPr>
          </a:p>
        </p:txBody>
      </p:sp>
      <p:sp>
        <p:nvSpPr>
          <p:cNvPr id="7" name="TextBox 7"/>
          <p:cNvSpPr txBox="1"/>
          <p:nvPr/>
        </p:nvSpPr>
        <p:spPr>
          <a:xfrm>
            <a:off x="1520676" y="5702794"/>
            <a:ext cx="9051436" cy="5770811"/>
          </a:xfrm>
          <a:prstGeom prst="rect">
            <a:avLst/>
          </a:prstGeom>
        </p:spPr>
        <p:txBody>
          <a:bodyPr lIns="0" tIns="0" rIns="0" bIns="0" rtlCol="0" anchor="t">
            <a:spAutoFit/>
          </a:bodyPr>
          <a:lstStyle/>
          <a:p>
            <a:pPr algn="l">
              <a:lnSpc>
                <a:spcPts val="7500"/>
              </a:lnSpc>
            </a:pPr>
            <a:endParaRPr lang="en-US" sz="6600" b="1" spc="-254" dirty="0">
              <a:solidFill>
                <a:srgbClr val="2E2E2E"/>
              </a:solidFill>
              <a:latin typeface="Montserrat Bold"/>
              <a:ea typeface="Montserrat Bold"/>
              <a:cs typeface="Montserrat Bold"/>
              <a:sym typeface="Montserrat Bold"/>
            </a:endParaRPr>
          </a:p>
          <a:p>
            <a:pPr algn="l">
              <a:lnSpc>
                <a:spcPts val="7500"/>
              </a:lnSpc>
            </a:pPr>
            <a:r>
              <a:rPr lang="en-US" sz="6600" b="1" spc="-254" dirty="0">
                <a:solidFill>
                  <a:srgbClr val="2E2E2E"/>
                </a:solidFill>
                <a:latin typeface="Montserrat Bold"/>
                <a:ea typeface="Montserrat Bold"/>
                <a:cs typeface="Montserrat Bold"/>
                <a:sym typeface="Montserrat Bold"/>
              </a:rPr>
              <a:t>Role of Dean IL &amp; TPO</a:t>
            </a:r>
          </a:p>
          <a:p>
            <a:pPr algn="l">
              <a:lnSpc>
                <a:spcPts val="7500"/>
              </a:lnSpc>
            </a:pPr>
            <a:endParaRPr lang="en-US" sz="6600" b="1" spc="-254" dirty="0">
              <a:solidFill>
                <a:srgbClr val="2E2E2E"/>
              </a:solidFill>
              <a:latin typeface="Montserrat Bold"/>
              <a:ea typeface="Montserrat Bold"/>
              <a:cs typeface="Montserrat Bold"/>
              <a:sym typeface="Montserrat Bold"/>
            </a:endParaRPr>
          </a:p>
          <a:p>
            <a:pPr algn="ctr">
              <a:lnSpc>
                <a:spcPts val="7500"/>
              </a:lnSpc>
            </a:pPr>
            <a:r>
              <a:rPr lang="en-US" sz="5400" b="1" spc="-254" dirty="0">
                <a:solidFill>
                  <a:srgbClr val="2E2E2E"/>
                </a:solidFill>
                <a:latin typeface="Montserrat Bold"/>
                <a:ea typeface="Montserrat Bold"/>
                <a:cs typeface="Montserrat Bold"/>
                <a:sym typeface="Montserrat Bold"/>
              </a:rPr>
              <a:t>By</a:t>
            </a:r>
          </a:p>
          <a:p>
            <a:pPr algn="ctr">
              <a:lnSpc>
                <a:spcPts val="7500"/>
              </a:lnSpc>
            </a:pPr>
            <a:r>
              <a:rPr lang="en-US" sz="5400" b="1" spc="-254" dirty="0">
                <a:solidFill>
                  <a:srgbClr val="2E2E2E"/>
                </a:solidFill>
                <a:latin typeface="Montserrat Bold"/>
                <a:ea typeface="Montserrat Bold"/>
                <a:cs typeface="Montserrat Bold"/>
                <a:sym typeface="Montserrat Bold"/>
              </a:rPr>
              <a:t>Dr. S. B. Mundhe</a:t>
            </a:r>
          </a:p>
          <a:p>
            <a:pPr algn="l">
              <a:lnSpc>
                <a:spcPts val="7500"/>
              </a:lnSpc>
            </a:pPr>
            <a:endParaRPr lang="en-US" sz="7500" b="1" spc="-254" dirty="0">
              <a:solidFill>
                <a:srgbClr val="2E2E2E"/>
              </a:solidFill>
              <a:latin typeface="Montserrat Bold"/>
              <a:ea typeface="Montserrat Bold"/>
              <a:cs typeface="Montserrat Bold"/>
              <a:sym typeface="Montserrat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EFEC"/>
        </a:solidFill>
        <a:effectLst/>
      </p:bgPr>
    </p:bg>
    <p:spTree>
      <p:nvGrpSpPr>
        <p:cNvPr id="1" name=""/>
        <p:cNvGrpSpPr/>
        <p:nvPr/>
      </p:nvGrpSpPr>
      <p:grpSpPr>
        <a:xfrm>
          <a:off x="0" y="0"/>
          <a:ext cx="0" cy="0"/>
          <a:chOff x="0" y="0"/>
          <a:chExt cx="0" cy="0"/>
        </a:xfrm>
      </p:grpSpPr>
      <p:sp>
        <p:nvSpPr>
          <p:cNvPr id="2" name="Freeform 2"/>
          <p:cNvSpPr/>
          <p:nvPr/>
        </p:nvSpPr>
        <p:spPr>
          <a:xfrm rot="-1259299">
            <a:off x="-6241445" y="-8894422"/>
            <a:ext cx="15132390" cy="15132390"/>
          </a:xfrm>
          <a:custGeom>
            <a:avLst/>
            <a:gdLst/>
            <a:ahLst/>
            <a:cxnLst/>
            <a:rect l="l" t="t" r="r" b="b"/>
            <a:pathLst>
              <a:path w="15132390" h="15132390">
                <a:moveTo>
                  <a:pt x="0" y="0"/>
                </a:moveTo>
                <a:lnTo>
                  <a:pt x="15132390" y="0"/>
                </a:lnTo>
                <a:lnTo>
                  <a:pt x="15132390" y="15132390"/>
                </a:lnTo>
                <a:lnTo>
                  <a:pt x="0" y="15132390"/>
                </a:lnTo>
                <a:lnTo>
                  <a:pt x="0"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9427575">
            <a:off x="1708344" y="7628049"/>
            <a:ext cx="14843670" cy="14843670"/>
          </a:xfrm>
          <a:custGeom>
            <a:avLst/>
            <a:gdLst/>
            <a:ahLst/>
            <a:cxnLst/>
            <a:rect l="l" t="t" r="r" b="b"/>
            <a:pathLst>
              <a:path w="14843670" h="14843670">
                <a:moveTo>
                  <a:pt x="0" y="0"/>
                </a:moveTo>
                <a:lnTo>
                  <a:pt x="14843669" y="0"/>
                </a:lnTo>
                <a:lnTo>
                  <a:pt x="14843669" y="14843669"/>
                </a:lnTo>
                <a:lnTo>
                  <a:pt x="0" y="14843669"/>
                </a:lnTo>
                <a:lnTo>
                  <a:pt x="0"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4861599">
            <a:off x="9898555" y="-8415349"/>
            <a:ext cx="15730827" cy="15730827"/>
          </a:xfrm>
          <a:custGeom>
            <a:avLst/>
            <a:gdLst/>
            <a:ahLst/>
            <a:cxnLst/>
            <a:rect l="l" t="t" r="r" b="b"/>
            <a:pathLst>
              <a:path w="15730827" h="15730827">
                <a:moveTo>
                  <a:pt x="0" y="0"/>
                </a:moveTo>
                <a:lnTo>
                  <a:pt x="15730827" y="0"/>
                </a:lnTo>
                <a:lnTo>
                  <a:pt x="15730827" y="15730827"/>
                </a:lnTo>
                <a:lnTo>
                  <a:pt x="0" y="15730827"/>
                </a:lnTo>
                <a:lnTo>
                  <a:pt x="0" y="0"/>
                </a:lnTo>
                <a:close/>
              </a:path>
            </a:pathLst>
          </a:custGeom>
          <a:blipFill>
            <a:blip r:embed="rId6">
              <a:alphaModFix amt="47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TextBox 5"/>
          <p:cNvSpPr txBox="1"/>
          <p:nvPr/>
        </p:nvSpPr>
        <p:spPr>
          <a:xfrm>
            <a:off x="3028885" y="693438"/>
            <a:ext cx="12230230" cy="1344926"/>
          </a:xfrm>
          <a:prstGeom prst="rect">
            <a:avLst/>
          </a:prstGeom>
        </p:spPr>
        <p:txBody>
          <a:bodyPr lIns="0" tIns="0" rIns="0" bIns="0" rtlCol="0" anchor="t">
            <a:spAutoFit/>
          </a:bodyPr>
          <a:lstStyle/>
          <a:p>
            <a:pPr algn="ctr">
              <a:lnSpc>
                <a:spcPts val="10199"/>
              </a:lnSpc>
            </a:pPr>
            <a:r>
              <a:rPr lang="en-US" sz="10199" b="1" spc="-346">
                <a:solidFill>
                  <a:srgbClr val="2E2E2E"/>
                </a:solidFill>
                <a:latin typeface="Montserrat Bold"/>
                <a:ea typeface="Montserrat Bold"/>
                <a:cs typeface="Montserrat Bold"/>
                <a:sym typeface="Montserrat Bold"/>
              </a:rPr>
              <a:t>HISTORY</a:t>
            </a:r>
          </a:p>
        </p:txBody>
      </p:sp>
      <p:sp>
        <p:nvSpPr>
          <p:cNvPr id="6" name="TextBox 6"/>
          <p:cNvSpPr txBox="1"/>
          <p:nvPr/>
        </p:nvSpPr>
        <p:spPr>
          <a:xfrm>
            <a:off x="2017871" y="2625092"/>
            <a:ext cx="14252259" cy="6270308"/>
          </a:xfrm>
          <a:prstGeom prst="rect">
            <a:avLst/>
          </a:prstGeom>
        </p:spPr>
        <p:txBody>
          <a:bodyPr lIns="0" tIns="0" rIns="0" bIns="0" rtlCol="0" anchor="t">
            <a:spAutoFit/>
          </a:bodyPr>
          <a:lstStyle/>
          <a:p>
            <a:pPr marL="704367" lvl="1" indent="-352184" algn="just">
              <a:lnSpc>
                <a:spcPts val="4567"/>
              </a:lnSpc>
              <a:buFont typeface="Arial"/>
              <a:buChar char="•"/>
            </a:pPr>
            <a:r>
              <a:rPr lang="en-US" sz="3262">
                <a:solidFill>
                  <a:srgbClr val="000000"/>
                </a:solidFill>
                <a:latin typeface="Tex Gyre Bonum"/>
                <a:ea typeface="Tex Gyre Bonum"/>
                <a:cs typeface="Tex Gyre Bonum"/>
                <a:sym typeface="Tex Gyre Bonum"/>
              </a:rPr>
              <a:t>Established in 1981 by Government of Maharashtra</a:t>
            </a:r>
          </a:p>
          <a:p>
            <a:pPr marL="704367" lvl="1" indent="-352184" algn="just">
              <a:lnSpc>
                <a:spcPts val="4567"/>
              </a:lnSpc>
              <a:buFont typeface="Arial"/>
              <a:buChar char="•"/>
            </a:pPr>
            <a:r>
              <a:rPr lang="en-US" sz="3262">
                <a:solidFill>
                  <a:srgbClr val="000000"/>
                </a:solidFill>
                <a:latin typeface="Tex Gyre Bonum"/>
                <a:ea typeface="Tex Gyre Bonum"/>
                <a:cs typeface="Tex Gyre Bonum"/>
                <a:sym typeface="Tex Gyre Bonum"/>
              </a:rPr>
              <a:t>An autonomous institute affiliated to Swami Ramanand Teerth Marathwada University (SRTMU), Nanded</a:t>
            </a:r>
          </a:p>
          <a:p>
            <a:pPr marL="704367" lvl="1" indent="-352184" algn="just">
              <a:lnSpc>
                <a:spcPts val="4567"/>
              </a:lnSpc>
              <a:buFont typeface="Arial"/>
              <a:buChar char="•"/>
            </a:pPr>
            <a:r>
              <a:rPr lang="en-US" sz="3262">
                <a:solidFill>
                  <a:srgbClr val="000000"/>
                </a:solidFill>
                <a:latin typeface="Tex Gyre Bonum"/>
                <a:ea typeface="Tex Gyre Bonum"/>
                <a:cs typeface="Tex Gyre Bonum"/>
                <a:sym typeface="Tex Gyre Bonum"/>
              </a:rPr>
              <a:t>Approved by AICTE and recognized by UGC</a:t>
            </a:r>
          </a:p>
          <a:p>
            <a:pPr marL="704367" lvl="1" indent="-352184" algn="just">
              <a:lnSpc>
                <a:spcPts val="4567"/>
              </a:lnSpc>
              <a:buFont typeface="Arial"/>
              <a:buChar char="•"/>
            </a:pPr>
            <a:r>
              <a:rPr lang="en-US" sz="3262">
                <a:solidFill>
                  <a:srgbClr val="000000"/>
                </a:solidFill>
                <a:latin typeface="Tex Gyre Bonum"/>
                <a:ea typeface="Tex Gyre Bonum"/>
                <a:cs typeface="Tex Gyre Bonum"/>
                <a:sym typeface="Tex Gyre Bonum"/>
              </a:rPr>
              <a:t>Offers UG, PG, and Ph.D. programs in Engineering, Technology, and Sciences</a:t>
            </a:r>
          </a:p>
          <a:p>
            <a:pPr marL="704367" lvl="1" indent="-352184" algn="just">
              <a:lnSpc>
                <a:spcPts val="4567"/>
              </a:lnSpc>
              <a:buFont typeface="Arial"/>
              <a:buChar char="•"/>
            </a:pPr>
            <a:r>
              <a:rPr lang="en-US" sz="3262">
                <a:solidFill>
                  <a:srgbClr val="000000"/>
                </a:solidFill>
                <a:latin typeface="Tex Gyre Bonum"/>
                <a:ea typeface="Tex Gyre Bonum"/>
                <a:cs typeface="Tex Gyre Bonum"/>
                <a:sym typeface="Tex Gyre Bonum"/>
              </a:rPr>
              <a:t>Known for its focus on quality education, research, and innovation</a:t>
            </a:r>
          </a:p>
          <a:p>
            <a:pPr marL="704367" lvl="1" indent="-352184" algn="just">
              <a:lnSpc>
                <a:spcPts val="4567"/>
              </a:lnSpc>
              <a:buFont typeface="Arial"/>
              <a:buChar char="•"/>
            </a:pPr>
            <a:r>
              <a:rPr lang="en-US" sz="3262">
                <a:solidFill>
                  <a:srgbClr val="000000"/>
                </a:solidFill>
                <a:latin typeface="Tex Gyre Bonum"/>
                <a:ea typeface="Tex Gyre Bonum"/>
                <a:cs typeface="Tex Gyre Bonum"/>
                <a:sym typeface="Tex Gyre Bonum"/>
              </a:rPr>
              <a:t>Campus spread over 46 acres with modern infrastructure and facilities</a:t>
            </a:r>
          </a:p>
          <a:p>
            <a:pPr marL="704367" lvl="1" indent="-352184" algn="just">
              <a:lnSpc>
                <a:spcPts val="4567"/>
              </a:lnSpc>
              <a:buFont typeface="Arial"/>
              <a:buChar char="•"/>
            </a:pPr>
            <a:r>
              <a:rPr lang="en-US" sz="3262">
                <a:solidFill>
                  <a:srgbClr val="000000"/>
                </a:solidFill>
                <a:latin typeface="Tex Gyre Bonum"/>
                <a:ea typeface="Tex Gyre Bonum"/>
                <a:cs typeface="Tex Gyre Bonum"/>
                <a:sym typeface="Tex Gyre Bonum"/>
              </a:rPr>
              <a:t>Motto: (Service to society through education, research, and development)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EFEC"/>
        </a:solidFill>
        <a:effectLst/>
      </p:bgPr>
    </p:bg>
    <p:spTree>
      <p:nvGrpSpPr>
        <p:cNvPr id="1" name=""/>
        <p:cNvGrpSpPr/>
        <p:nvPr/>
      </p:nvGrpSpPr>
      <p:grpSpPr>
        <a:xfrm>
          <a:off x="0" y="0"/>
          <a:ext cx="0" cy="0"/>
          <a:chOff x="0" y="0"/>
          <a:chExt cx="0" cy="0"/>
        </a:xfrm>
      </p:grpSpPr>
      <p:sp>
        <p:nvSpPr>
          <p:cNvPr id="2" name="Freeform 2"/>
          <p:cNvSpPr/>
          <p:nvPr/>
        </p:nvSpPr>
        <p:spPr>
          <a:xfrm rot="-1259299">
            <a:off x="-6241445" y="-8894422"/>
            <a:ext cx="15132390" cy="15132390"/>
          </a:xfrm>
          <a:custGeom>
            <a:avLst/>
            <a:gdLst/>
            <a:ahLst/>
            <a:cxnLst/>
            <a:rect l="l" t="t" r="r" b="b"/>
            <a:pathLst>
              <a:path w="15132390" h="15132390">
                <a:moveTo>
                  <a:pt x="0" y="0"/>
                </a:moveTo>
                <a:lnTo>
                  <a:pt x="15132390" y="0"/>
                </a:lnTo>
                <a:lnTo>
                  <a:pt x="15132390" y="15132390"/>
                </a:lnTo>
                <a:lnTo>
                  <a:pt x="0" y="15132390"/>
                </a:lnTo>
                <a:lnTo>
                  <a:pt x="0"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4861599">
            <a:off x="9898555" y="-8415349"/>
            <a:ext cx="15730827" cy="15730827"/>
          </a:xfrm>
          <a:custGeom>
            <a:avLst/>
            <a:gdLst/>
            <a:ahLst/>
            <a:cxnLst/>
            <a:rect l="l" t="t" r="r" b="b"/>
            <a:pathLst>
              <a:path w="15730827" h="15730827">
                <a:moveTo>
                  <a:pt x="0" y="0"/>
                </a:moveTo>
                <a:lnTo>
                  <a:pt x="15730827" y="0"/>
                </a:lnTo>
                <a:lnTo>
                  <a:pt x="15730827" y="15730827"/>
                </a:lnTo>
                <a:lnTo>
                  <a:pt x="0" y="15730827"/>
                </a:lnTo>
                <a:lnTo>
                  <a:pt x="0"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TextBox 4"/>
          <p:cNvSpPr txBox="1"/>
          <p:nvPr/>
        </p:nvSpPr>
        <p:spPr>
          <a:xfrm>
            <a:off x="2293534" y="716934"/>
            <a:ext cx="13921931" cy="1344926"/>
          </a:xfrm>
          <a:prstGeom prst="rect">
            <a:avLst/>
          </a:prstGeom>
        </p:spPr>
        <p:txBody>
          <a:bodyPr lIns="0" tIns="0" rIns="0" bIns="0" rtlCol="0" anchor="t">
            <a:spAutoFit/>
          </a:bodyPr>
          <a:lstStyle/>
          <a:p>
            <a:pPr algn="ctr">
              <a:lnSpc>
                <a:spcPts val="10199"/>
              </a:lnSpc>
            </a:pPr>
            <a:r>
              <a:rPr lang="en-US" sz="10199" b="1" spc="-346">
                <a:solidFill>
                  <a:srgbClr val="2E2E2E"/>
                </a:solidFill>
                <a:latin typeface="Montserrat Bold"/>
                <a:ea typeface="Montserrat Bold"/>
                <a:cs typeface="Montserrat Bold"/>
                <a:sym typeface="Montserrat Bold"/>
              </a:rPr>
              <a:t>About SGGS </a:t>
            </a:r>
          </a:p>
        </p:txBody>
      </p:sp>
      <p:sp>
        <p:nvSpPr>
          <p:cNvPr id="5" name="TextBox 5"/>
          <p:cNvSpPr txBox="1"/>
          <p:nvPr/>
        </p:nvSpPr>
        <p:spPr>
          <a:xfrm>
            <a:off x="2017871" y="2625092"/>
            <a:ext cx="14473258" cy="6458548"/>
          </a:xfrm>
          <a:prstGeom prst="rect">
            <a:avLst/>
          </a:prstGeom>
        </p:spPr>
        <p:txBody>
          <a:bodyPr lIns="0" tIns="0" rIns="0" bIns="0" rtlCol="0" anchor="t">
            <a:spAutoFit/>
          </a:bodyPr>
          <a:lstStyle/>
          <a:p>
            <a:pPr algn="just">
              <a:lnSpc>
                <a:spcPts val="4706"/>
              </a:lnSpc>
            </a:pPr>
            <a:r>
              <a:rPr lang="en-US" sz="3361">
                <a:solidFill>
                  <a:srgbClr val="000000"/>
                </a:solidFill>
                <a:latin typeface="Tex Gyre Bonum"/>
                <a:ea typeface="Tex Gyre Bonum"/>
                <a:cs typeface="Tex Gyre Bonum"/>
                <a:sym typeface="Tex Gyre Bonum"/>
              </a:rPr>
              <a:t>Shri Guru Gobind Singhji Institute of Engineering and Technology (SGGSIET), established in 1981 in Nanded, is recognized as a prominent institution in technical education, research, and technology transfer. From the beginning, the institute has focused on student-cantered learning and is dedicated to achieving academic excellence. The campus covers 46 acres and is characterized by its cleanliness and greenery. It receives 100% grant-in-aid from the Government of Maharashtra.</a:t>
            </a:r>
          </a:p>
          <a:p>
            <a:pPr algn="just">
              <a:lnSpc>
                <a:spcPts val="4706"/>
              </a:lnSpc>
            </a:pPr>
            <a:endParaRPr lang="en-US" sz="3361">
              <a:solidFill>
                <a:srgbClr val="000000"/>
              </a:solidFill>
              <a:latin typeface="Tex Gyre Bonum"/>
              <a:ea typeface="Tex Gyre Bonum"/>
              <a:cs typeface="Tex Gyre Bonum"/>
              <a:sym typeface="Tex Gyre Bonum"/>
            </a:endParaRPr>
          </a:p>
          <a:p>
            <a:pPr algn="just">
              <a:lnSpc>
                <a:spcPts val="4706"/>
              </a:lnSpc>
            </a:pPr>
            <a:endParaRPr lang="en-US" sz="3361">
              <a:solidFill>
                <a:srgbClr val="000000"/>
              </a:solidFill>
              <a:latin typeface="Tex Gyre Bonum"/>
              <a:ea typeface="Tex Gyre Bonum"/>
              <a:cs typeface="Tex Gyre Bonum"/>
              <a:sym typeface="Tex Gyre Bonum"/>
            </a:endParaRPr>
          </a:p>
          <a:p>
            <a:pPr algn="just">
              <a:lnSpc>
                <a:spcPts val="4706"/>
              </a:lnSpc>
            </a:pPr>
            <a:endParaRPr lang="en-US" sz="3361">
              <a:solidFill>
                <a:srgbClr val="000000"/>
              </a:solidFill>
              <a:latin typeface="Tex Gyre Bonum"/>
              <a:ea typeface="Tex Gyre Bonum"/>
              <a:cs typeface="Tex Gyre Bonum"/>
              <a:sym typeface="Tex Gyre Bonum"/>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EFEC"/>
        </a:solidFill>
        <a:effectLst/>
      </p:bgPr>
    </p:bg>
    <p:spTree>
      <p:nvGrpSpPr>
        <p:cNvPr id="1" name=""/>
        <p:cNvGrpSpPr/>
        <p:nvPr/>
      </p:nvGrpSpPr>
      <p:grpSpPr>
        <a:xfrm>
          <a:off x="0" y="0"/>
          <a:ext cx="0" cy="0"/>
          <a:chOff x="0" y="0"/>
          <a:chExt cx="0" cy="0"/>
        </a:xfrm>
      </p:grpSpPr>
      <p:sp>
        <p:nvSpPr>
          <p:cNvPr id="2" name="Freeform 2"/>
          <p:cNvSpPr/>
          <p:nvPr/>
        </p:nvSpPr>
        <p:spPr>
          <a:xfrm rot="-1259299">
            <a:off x="-6241445" y="-8894422"/>
            <a:ext cx="15132390" cy="15132390"/>
          </a:xfrm>
          <a:custGeom>
            <a:avLst/>
            <a:gdLst/>
            <a:ahLst/>
            <a:cxnLst/>
            <a:rect l="l" t="t" r="r" b="b"/>
            <a:pathLst>
              <a:path w="15132390" h="15132390">
                <a:moveTo>
                  <a:pt x="0" y="0"/>
                </a:moveTo>
                <a:lnTo>
                  <a:pt x="15132390" y="0"/>
                </a:lnTo>
                <a:lnTo>
                  <a:pt x="15132390" y="15132390"/>
                </a:lnTo>
                <a:lnTo>
                  <a:pt x="0" y="15132390"/>
                </a:lnTo>
                <a:lnTo>
                  <a:pt x="0"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887725" y="2912517"/>
            <a:ext cx="5401964" cy="4852123"/>
          </a:xfrm>
          <a:custGeom>
            <a:avLst/>
            <a:gdLst/>
            <a:ahLst/>
            <a:cxnLst/>
            <a:rect l="l" t="t" r="r" b="b"/>
            <a:pathLst>
              <a:path w="5401964" h="4852123">
                <a:moveTo>
                  <a:pt x="0" y="0"/>
                </a:moveTo>
                <a:lnTo>
                  <a:pt x="5401964" y="0"/>
                </a:lnTo>
                <a:lnTo>
                  <a:pt x="5401964" y="4852123"/>
                </a:lnTo>
                <a:lnTo>
                  <a:pt x="0" y="4852123"/>
                </a:lnTo>
                <a:lnTo>
                  <a:pt x="0" y="0"/>
                </a:lnTo>
                <a:close/>
              </a:path>
            </a:pathLst>
          </a:custGeom>
          <a:blipFill>
            <a:blip r:embed="rId4"/>
            <a:stretch>
              <a:fillRect r="-19761"/>
            </a:stretch>
          </a:blipFill>
        </p:spPr>
        <p:txBody>
          <a:bodyPr/>
          <a:lstStyle/>
          <a:p>
            <a:endParaRPr lang="en-US"/>
          </a:p>
        </p:txBody>
      </p:sp>
      <p:sp>
        <p:nvSpPr>
          <p:cNvPr id="4" name="Freeform 4"/>
          <p:cNvSpPr/>
          <p:nvPr/>
        </p:nvSpPr>
        <p:spPr>
          <a:xfrm rot="4861599">
            <a:off x="9898555" y="-8415349"/>
            <a:ext cx="15730827" cy="15730827"/>
          </a:xfrm>
          <a:custGeom>
            <a:avLst/>
            <a:gdLst/>
            <a:ahLst/>
            <a:cxnLst/>
            <a:rect l="l" t="t" r="r" b="b"/>
            <a:pathLst>
              <a:path w="15730827" h="15730827">
                <a:moveTo>
                  <a:pt x="0" y="0"/>
                </a:moveTo>
                <a:lnTo>
                  <a:pt x="15730827" y="0"/>
                </a:lnTo>
                <a:lnTo>
                  <a:pt x="15730827" y="15730827"/>
                </a:lnTo>
                <a:lnTo>
                  <a:pt x="0" y="15730827"/>
                </a:lnTo>
                <a:lnTo>
                  <a:pt x="0" y="0"/>
                </a:lnTo>
                <a:close/>
              </a:path>
            </a:pathLst>
          </a:custGeom>
          <a:blipFill>
            <a:blip r:embed="rId5">
              <a:alphaModFix amt="47000"/>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TextBox 5"/>
          <p:cNvSpPr txBox="1"/>
          <p:nvPr/>
        </p:nvSpPr>
        <p:spPr>
          <a:xfrm>
            <a:off x="7264278" y="2383870"/>
            <a:ext cx="10290531" cy="7224551"/>
          </a:xfrm>
          <a:prstGeom prst="rect">
            <a:avLst/>
          </a:prstGeom>
        </p:spPr>
        <p:txBody>
          <a:bodyPr lIns="0" tIns="0" rIns="0" bIns="0" rtlCol="0" anchor="t">
            <a:spAutoFit/>
          </a:bodyPr>
          <a:lstStyle/>
          <a:p>
            <a:pPr algn="just">
              <a:lnSpc>
                <a:spcPts val="3421"/>
              </a:lnSpc>
            </a:pPr>
            <a:endParaRPr/>
          </a:p>
          <a:p>
            <a:pPr algn="just">
              <a:lnSpc>
                <a:spcPts val="4401"/>
              </a:lnSpc>
            </a:pPr>
            <a:r>
              <a:rPr lang="en-US" sz="3143" spc="157">
                <a:solidFill>
                  <a:srgbClr val="000000"/>
                </a:solidFill>
                <a:latin typeface="Tex Gyre Bonum"/>
                <a:ea typeface="Tex Gyre Bonum"/>
                <a:cs typeface="Tex Gyre Bonum"/>
                <a:sym typeface="Tex Gyre Bonum"/>
              </a:rPr>
              <a:t>At our SGGSIE&amp;T, we strive to provide an exceptional experience that nurtures your intellectual growth, hones your technical skills, and fosters your personal development. Our accomplished many faculty members, who earned Ph.D. from IITs. All faculty members are renowned experts in their respective fields, and they are committed to imparting their knowledge and expertise to guide you toward excellence.</a:t>
            </a:r>
          </a:p>
          <a:p>
            <a:pPr algn="just">
              <a:lnSpc>
                <a:spcPts val="3421"/>
              </a:lnSpc>
            </a:pPr>
            <a:endParaRPr lang="en-US" sz="3143" spc="157">
              <a:solidFill>
                <a:srgbClr val="000000"/>
              </a:solidFill>
              <a:latin typeface="Tex Gyre Bonum"/>
              <a:ea typeface="Tex Gyre Bonum"/>
              <a:cs typeface="Tex Gyre Bonum"/>
              <a:sym typeface="Tex Gyre Bonum"/>
            </a:endParaRPr>
          </a:p>
          <a:p>
            <a:pPr algn="just">
              <a:lnSpc>
                <a:spcPts val="3421"/>
              </a:lnSpc>
            </a:pPr>
            <a:endParaRPr lang="en-US" sz="3143" spc="157">
              <a:solidFill>
                <a:srgbClr val="000000"/>
              </a:solidFill>
              <a:latin typeface="Tex Gyre Bonum"/>
              <a:ea typeface="Tex Gyre Bonum"/>
              <a:cs typeface="Tex Gyre Bonum"/>
              <a:sym typeface="Tex Gyre Bonum"/>
            </a:endParaRPr>
          </a:p>
          <a:p>
            <a:pPr algn="just">
              <a:lnSpc>
                <a:spcPts val="3421"/>
              </a:lnSpc>
            </a:pPr>
            <a:endParaRPr lang="en-US" sz="3143" spc="157">
              <a:solidFill>
                <a:srgbClr val="000000"/>
              </a:solidFill>
              <a:latin typeface="Tex Gyre Bonum"/>
              <a:ea typeface="Tex Gyre Bonum"/>
              <a:cs typeface="Tex Gyre Bonum"/>
              <a:sym typeface="Tex Gyre Bonum"/>
            </a:endParaRPr>
          </a:p>
        </p:txBody>
      </p:sp>
      <p:sp>
        <p:nvSpPr>
          <p:cNvPr id="6" name="TextBox 6"/>
          <p:cNvSpPr txBox="1"/>
          <p:nvPr/>
        </p:nvSpPr>
        <p:spPr>
          <a:xfrm>
            <a:off x="2293534" y="716934"/>
            <a:ext cx="13921931" cy="1344926"/>
          </a:xfrm>
          <a:prstGeom prst="rect">
            <a:avLst/>
          </a:prstGeom>
        </p:spPr>
        <p:txBody>
          <a:bodyPr lIns="0" tIns="0" rIns="0" bIns="0" rtlCol="0" anchor="t">
            <a:spAutoFit/>
          </a:bodyPr>
          <a:lstStyle/>
          <a:p>
            <a:pPr algn="ctr">
              <a:lnSpc>
                <a:spcPts val="10199"/>
              </a:lnSpc>
            </a:pPr>
            <a:r>
              <a:rPr lang="en-US" sz="10199" b="1" spc="-346">
                <a:solidFill>
                  <a:srgbClr val="2E2E2E"/>
                </a:solidFill>
                <a:latin typeface="Montserrat Bold"/>
                <a:ea typeface="Montserrat Bold"/>
                <a:cs typeface="Montserrat Bold"/>
                <a:sym typeface="Montserrat Bold"/>
              </a:rPr>
              <a:t>Director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EFEC"/>
        </a:solidFill>
        <a:effectLst/>
      </p:bgPr>
    </p:bg>
    <p:spTree>
      <p:nvGrpSpPr>
        <p:cNvPr id="1" name=""/>
        <p:cNvGrpSpPr/>
        <p:nvPr/>
      </p:nvGrpSpPr>
      <p:grpSpPr>
        <a:xfrm>
          <a:off x="0" y="0"/>
          <a:ext cx="0" cy="0"/>
          <a:chOff x="0" y="0"/>
          <a:chExt cx="0" cy="0"/>
        </a:xfrm>
      </p:grpSpPr>
      <p:sp>
        <p:nvSpPr>
          <p:cNvPr id="2" name="Freeform 2"/>
          <p:cNvSpPr/>
          <p:nvPr/>
        </p:nvSpPr>
        <p:spPr>
          <a:xfrm rot="-1259299">
            <a:off x="-6241445" y="-8894422"/>
            <a:ext cx="15132390" cy="15132390"/>
          </a:xfrm>
          <a:custGeom>
            <a:avLst/>
            <a:gdLst/>
            <a:ahLst/>
            <a:cxnLst/>
            <a:rect l="l" t="t" r="r" b="b"/>
            <a:pathLst>
              <a:path w="15132390" h="15132390">
                <a:moveTo>
                  <a:pt x="0" y="0"/>
                </a:moveTo>
                <a:lnTo>
                  <a:pt x="15132390" y="0"/>
                </a:lnTo>
                <a:lnTo>
                  <a:pt x="15132390" y="15132390"/>
                </a:lnTo>
                <a:lnTo>
                  <a:pt x="0" y="15132390"/>
                </a:lnTo>
                <a:lnTo>
                  <a:pt x="0"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rot="4861599">
            <a:off x="9824036" y="-8434402"/>
            <a:ext cx="15730827" cy="15730827"/>
          </a:xfrm>
          <a:custGeom>
            <a:avLst/>
            <a:gdLst/>
            <a:ahLst/>
            <a:cxnLst/>
            <a:rect l="l" t="t" r="r" b="b"/>
            <a:pathLst>
              <a:path w="15730827" h="15730827">
                <a:moveTo>
                  <a:pt x="0" y="0"/>
                </a:moveTo>
                <a:lnTo>
                  <a:pt x="15730827" y="0"/>
                </a:lnTo>
                <a:lnTo>
                  <a:pt x="15730827" y="15730827"/>
                </a:lnTo>
                <a:lnTo>
                  <a:pt x="0" y="15730827"/>
                </a:lnTo>
                <a:lnTo>
                  <a:pt x="0"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TextBox 5"/>
          <p:cNvSpPr txBox="1"/>
          <p:nvPr/>
        </p:nvSpPr>
        <p:spPr>
          <a:xfrm>
            <a:off x="6629401" y="2400300"/>
            <a:ext cx="10869554" cy="8643392"/>
          </a:xfrm>
          <a:prstGeom prst="rect">
            <a:avLst/>
          </a:prstGeom>
        </p:spPr>
        <p:txBody>
          <a:bodyPr wrap="square" lIns="0" tIns="0" rIns="0" bIns="0" rtlCol="0" anchor="t">
            <a:spAutoFit/>
          </a:bodyPr>
          <a:lstStyle/>
          <a:p>
            <a:pPr algn="just">
              <a:lnSpc>
                <a:spcPts val="4401"/>
              </a:lnSpc>
            </a:pPr>
            <a:r>
              <a:rPr lang="en-US" sz="3143" spc="157" dirty="0">
                <a:solidFill>
                  <a:srgbClr val="000000"/>
                </a:solidFill>
                <a:latin typeface="Tex Gyre Bonum"/>
                <a:ea typeface="Tex Gyre Bonum"/>
                <a:cs typeface="Tex Gyre Bonum"/>
                <a:sym typeface="Tex Gyre Bonum"/>
              </a:rPr>
              <a:t>The Training and Placement Cell at SGGSIE&amp;T serves as a bridge between industry and academia, facilitating meaningful interactions between recruiters and students.</a:t>
            </a:r>
          </a:p>
          <a:p>
            <a:pPr algn="just">
              <a:lnSpc>
                <a:spcPts val="4401"/>
              </a:lnSpc>
            </a:pPr>
            <a:endParaRPr lang="en-US" sz="3143" spc="157" dirty="0">
              <a:solidFill>
                <a:srgbClr val="000000"/>
              </a:solidFill>
              <a:latin typeface="Tex Gyre Bonum"/>
              <a:ea typeface="Tex Gyre Bonum"/>
              <a:cs typeface="Tex Gyre Bonum"/>
              <a:sym typeface="Tex Gyre Bonum"/>
            </a:endParaRPr>
          </a:p>
          <a:p>
            <a:pPr algn="just">
              <a:lnSpc>
                <a:spcPts val="4401"/>
              </a:lnSpc>
            </a:pPr>
            <a:r>
              <a:rPr lang="en-US" sz="3143" spc="157" dirty="0">
                <a:solidFill>
                  <a:srgbClr val="000000"/>
                </a:solidFill>
                <a:latin typeface="Tex Gyre Bonum"/>
                <a:ea typeface="Tex Gyre Bonum"/>
                <a:cs typeface="Tex Gyre Bonum"/>
                <a:sym typeface="Tex Gyre Bonum"/>
              </a:rPr>
              <a:t>We focus on enhancing employability through technical training, aptitude development, communication skill enhancement, coding practice, industry interactions, internships, and career guidance initiatives. Our students are encouraged to participate in projects, research activities, hackathons, technical competitions, and innovation-driven programs.</a:t>
            </a:r>
          </a:p>
          <a:p>
            <a:pPr algn="just">
              <a:lnSpc>
                <a:spcPts val="3421"/>
              </a:lnSpc>
            </a:pPr>
            <a:endParaRPr lang="en-US" sz="3143" spc="157" dirty="0">
              <a:solidFill>
                <a:srgbClr val="000000"/>
              </a:solidFill>
              <a:latin typeface="Tex Gyre Bonum"/>
              <a:ea typeface="Tex Gyre Bonum"/>
              <a:cs typeface="Tex Gyre Bonum"/>
              <a:sym typeface="Tex Gyre Bonum"/>
            </a:endParaRPr>
          </a:p>
          <a:p>
            <a:pPr algn="just">
              <a:lnSpc>
                <a:spcPts val="3421"/>
              </a:lnSpc>
            </a:pPr>
            <a:endParaRPr lang="en-US" sz="3143" spc="157" dirty="0">
              <a:solidFill>
                <a:srgbClr val="000000"/>
              </a:solidFill>
              <a:latin typeface="Tex Gyre Bonum"/>
              <a:ea typeface="Tex Gyre Bonum"/>
              <a:cs typeface="Tex Gyre Bonum"/>
              <a:sym typeface="Tex Gyre Bonum"/>
            </a:endParaRPr>
          </a:p>
          <a:p>
            <a:pPr algn="just">
              <a:lnSpc>
                <a:spcPts val="3421"/>
              </a:lnSpc>
            </a:pPr>
            <a:endParaRPr lang="en-US" sz="3143" spc="157" dirty="0">
              <a:solidFill>
                <a:srgbClr val="000000"/>
              </a:solidFill>
              <a:latin typeface="Tex Gyre Bonum"/>
              <a:ea typeface="Tex Gyre Bonum"/>
              <a:cs typeface="Tex Gyre Bonum"/>
              <a:sym typeface="Tex Gyre Bonum"/>
            </a:endParaRPr>
          </a:p>
        </p:txBody>
      </p:sp>
      <p:sp>
        <p:nvSpPr>
          <p:cNvPr id="6" name="TextBox 6"/>
          <p:cNvSpPr txBox="1"/>
          <p:nvPr/>
        </p:nvSpPr>
        <p:spPr>
          <a:xfrm>
            <a:off x="2293534" y="716934"/>
            <a:ext cx="13921931" cy="1139479"/>
          </a:xfrm>
          <a:prstGeom prst="rect">
            <a:avLst/>
          </a:prstGeom>
        </p:spPr>
        <p:txBody>
          <a:bodyPr wrap="square" lIns="0" tIns="0" rIns="0" bIns="0" rtlCol="0" anchor="t">
            <a:spAutoFit/>
          </a:bodyPr>
          <a:lstStyle/>
          <a:p>
            <a:pPr algn="ctr">
              <a:lnSpc>
                <a:spcPts val="10199"/>
              </a:lnSpc>
            </a:pPr>
            <a:r>
              <a:rPr lang="en-US" sz="5000" b="1" spc="-346" dirty="0">
                <a:solidFill>
                  <a:srgbClr val="2E2E2E"/>
                </a:solidFill>
                <a:latin typeface="Montserrat Bold"/>
                <a:ea typeface="Montserrat Bold"/>
                <a:cs typeface="Montserrat Bold"/>
                <a:sym typeface="Montserrat Bold"/>
              </a:rPr>
              <a:t>Dean(Industry Liaison &amp; In-Charge, TPO)</a:t>
            </a:r>
          </a:p>
        </p:txBody>
      </p:sp>
      <p:grpSp>
        <p:nvGrpSpPr>
          <p:cNvPr id="9" name="Group 26">
            <a:extLst>
              <a:ext uri="{FF2B5EF4-FFF2-40B4-BE49-F238E27FC236}">
                <a16:creationId xmlns:a16="http://schemas.microsoft.com/office/drawing/2014/main" id="{0122D8C1-698B-4B3D-9EDD-E665F26B9372}"/>
              </a:ext>
            </a:extLst>
          </p:cNvPr>
          <p:cNvGrpSpPr/>
          <p:nvPr/>
        </p:nvGrpSpPr>
        <p:grpSpPr>
          <a:xfrm>
            <a:off x="1512790" y="2656149"/>
            <a:ext cx="4277503" cy="5195580"/>
            <a:chOff x="0" y="0"/>
            <a:chExt cx="483530" cy="587310"/>
          </a:xfrm>
        </p:grpSpPr>
        <p:sp>
          <p:nvSpPr>
            <p:cNvPr id="10" name="Freeform 27">
              <a:extLst>
                <a:ext uri="{FF2B5EF4-FFF2-40B4-BE49-F238E27FC236}">
                  <a16:creationId xmlns:a16="http://schemas.microsoft.com/office/drawing/2014/main" id="{53BFADB1-2532-421E-A550-EA587B937913}"/>
                </a:ext>
              </a:extLst>
            </p:cNvPr>
            <p:cNvSpPr/>
            <p:nvPr/>
          </p:nvSpPr>
          <p:spPr>
            <a:xfrm>
              <a:off x="0" y="0"/>
              <a:ext cx="483530" cy="587310"/>
            </a:xfrm>
            <a:custGeom>
              <a:avLst/>
              <a:gdLst/>
              <a:ahLst/>
              <a:cxnLst/>
              <a:rect l="l" t="t" r="r" b="b"/>
              <a:pathLst>
                <a:path w="483530" h="587310">
                  <a:moveTo>
                    <a:pt x="0" y="0"/>
                  </a:moveTo>
                  <a:lnTo>
                    <a:pt x="483530" y="0"/>
                  </a:lnTo>
                  <a:lnTo>
                    <a:pt x="483530" y="587310"/>
                  </a:lnTo>
                  <a:lnTo>
                    <a:pt x="0" y="587310"/>
                  </a:lnTo>
                  <a:close/>
                </a:path>
              </a:pathLst>
            </a:custGeom>
            <a:blipFill>
              <a:blip r:embed="rId6"/>
              <a:stretch>
                <a:fillRect l="-11713" r="-11713"/>
              </a:stretch>
            </a:blipFill>
            <a:ln cap="sq">
              <a:noFill/>
              <a:prstDash val="solid"/>
              <a:miter/>
            </a:ln>
          </p:spPr>
          <p:txBody>
            <a:bodyPr/>
            <a:lstStyle/>
            <a:p>
              <a:endParaRPr lang="en-US"/>
            </a:p>
          </p:txBody>
        </p:sp>
      </p:grpSp>
    </p:spTree>
    <p:extLst>
      <p:ext uri="{BB962C8B-B14F-4D97-AF65-F5344CB8AC3E}">
        <p14:creationId xmlns:p14="http://schemas.microsoft.com/office/powerpoint/2010/main" val="1654721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EFEC"/>
        </a:solidFill>
        <a:effectLst/>
      </p:bgPr>
    </p:bg>
    <p:spTree>
      <p:nvGrpSpPr>
        <p:cNvPr id="1" name="">
          <a:extLst>
            <a:ext uri="{FF2B5EF4-FFF2-40B4-BE49-F238E27FC236}">
              <a16:creationId xmlns:a16="http://schemas.microsoft.com/office/drawing/2014/main" id="{A19D4972-7D9A-5786-C8DA-251E2F090E8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7350F8F-6808-A4D1-C48E-CD9C1B7157D9}"/>
              </a:ext>
            </a:extLst>
          </p:cNvPr>
          <p:cNvSpPr/>
          <p:nvPr/>
        </p:nvSpPr>
        <p:spPr>
          <a:xfrm rot="-1259299">
            <a:off x="-6241445" y="-8894422"/>
            <a:ext cx="15132390" cy="15132390"/>
          </a:xfrm>
          <a:custGeom>
            <a:avLst/>
            <a:gdLst/>
            <a:ahLst/>
            <a:cxnLst/>
            <a:rect l="l" t="t" r="r" b="b"/>
            <a:pathLst>
              <a:path w="15132390" h="15132390">
                <a:moveTo>
                  <a:pt x="0" y="0"/>
                </a:moveTo>
                <a:lnTo>
                  <a:pt x="15132390" y="0"/>
                </a:lnTo>
                <a:lnTo>
                  <a:pt x="15132390" y="15132390"/>
                </a:lnTo>
                <a:lnTo>
                  <a:pt x="0" y="15132390"/>
                </a:lnTo>
                <a:lnTo>
                  <a:pt x="0"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B755C436-DF44-D18C-A630-956E38BCAC18}"/>
              </a:ext>
            </a:extLst>
          </p:cNvPr>
          <p:cNvSpPr/>
          <p:nvPr/>
        </p:nvSpPr>
        <p:spPr>
          <a:xfrm rot="4861599">
            <a:off x="9898555" y="-8415349"/>
            <a:ext cx="15730827" cy="15730827"/>
          </a:xfrm>
          <a:custGeom>
            <a:avLst/>
            <a:gdLst/>
            <a:ahLst/>
            <a:cxnLst/>
            <a:rect l="l" t="t" r="r" b="b"/>
            <a:pathLst>
              <a:path w="15730827" h="15730827">
                <a:moveTo>
                  <a:pt x="0" y="0"/>
                </a:moveTo>
                <a:lnTo>
                  <a:pt x="15730827" y="0"/>
                </a:lnTo>
                <a:lnTo>
                  <a:pt x="15730827" y="15730827"/>
                </a:lnTo>
                <a:lnTo>
                  <a:pt x="0" y="15730827"/>
                </a:lnTo>
                <a:lnTo>
                  <a:pt x="0"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05803699-F919-BB18-D4B4-884B60509879}"/>
              </a:ext>
            </a:extLst>
          </p:cNvPr>
          <p:cNvSpPr txBox="1"/>
          <p:nvPr/>
        </p:nvSpPr>
        <p:spPr>
          <a:xfrm>
            <a:off x="762000" y="2383870"/>
            <a:ext cx="16792809" cy="6540252"/>
          </a:xfrm>
          <a:prstGeom prst="rect">
            <a:avLst/>
          </a:prstGeom>
        </p:spPr>
        <p:txBody>
          <a:bodyPr wrap="square" lIns="0" tIns="0" rIns="0" bIns="0" rtlCol="0" anchor="t">
            <a:spAutoFit/>
          </a:bodyPr>
          <a:lstStyle/>
          <a:p>
            <a:pPr algn="just">
              <a:lnSpc>
                <a:spcPts val="3421"/>
              </a:lnSpc>
            </a:pPr>
            <a:endParaRPr dirty="0"/>
          </a:p>
          <a:p>
            <a:pPr algn="just">
              <a:lnSpc>
                <a:spcPts val="3421"/>
              </a:lnSpc>
            </a:pPr>
            <a:r>
              <a:rPr lang="en-US" sz="3143" spc="157" dirty="0">
                <a:solidFill>
                  <a:srgbClr val="000000"/>
                </a:solidFill>
                <a:latin typeface="Tex Gyre Bonum"/>
                <a:ea typeface="Tex Gyre Bonum"/>
                <a:cs typeface="Tex Gyre Bonum"/>
                <a:sym typeface="Tex Gyre Bonum"/>
              </a:rPr>
              <a:t>Starting your engineering journey can feel overwhelming, with new subjects, professors, and expectations. But maintaining professionalism from the very first year sets the foundation for long-term success. </a:t>
            </a:r>
            <a:r>
              <a:rPr lang="en-US" sz="3143" b="1" spc="157" dirty="0">
                <a:solidFill>
                  <a:srgbClr val="000000"/>
                </a:solidFill>
                <a:latin typeface="Tex Gyre Bonum"/>
                <a:ea typeface="Tex Gyre Bonum"/>
                <a:cs typeface="Tex Gyre Bonum"/>
                <a:sym typeface="Tex Gyre Bonum"/>
              </a:rPr>
              <a:t>Being punctual, disciplined, and respectful in every interaction—whether with faculty, peers, or industry professionals—builds a reputation that stays with you throughout your career</a:t>
            </a:r>
            <a:r>
              <a:rPr lang="en-US" sz="3143" spc="157" dirty="0">
                <a:solidFill>
                  <a:srgbClr val="000000"/>
                </a:solidFill>
                <a:latin typeface="Tex Gyre Bonum"/>
                <a:ea typeface="Tex Gyre Bonum"/>
                <a:cs typeface="Tex Gyre Bonum"/>
                <a:sym typeface="Tex Gyre Bonum"/>
              </a:rPr>
              <a:t>. Professionalism isn’t just about formal behavior; it’s about commitment, responsibility, and consistency in your actions. By cultivating these habits early, you not only gain the trust and respect of others but also prepare yourself to confidently face opportunities, internships, and placements in the future. Remember, the seeds of discipline and professionalism you plant today will grow into the confidence and credibility that define your professional journey.</a:t>
            </a:r>
          </a:p>
          <a:p>
            <a:pPr algn="just">
              <a:lnSpc>
                <a:spcPts val="3421"/>
              </a:lnSpc>
            </a:pPr>
            <a:endParaRPr lang="en-US" sz="3143" spc="157" dirty="0">
              <a:solidFill>
                <a:srgbClr val="000000"/>
              </a:solidFill>
              <a:latin typeface="Tex Gyre Bonum"/>
              <a:ea typeface="Tex Gyre Bonum"/>
              <a:cs typeface="Tex Gyre Bonum"/>
              <a:sym typeface="Tex Gyre Bonum"/>
            </a:endParaRPr>
          </a:p>
          <a:p>
            <a:pPr algn="just">
              <a:lnSpc>
                <a:spcPts val="3421"/>
              </a:lnSpc>
            </a:pPr>
            <a:endParaRPr lang="en-US" sz="3143" spc="157" dirty="0">
              <a:solidFill>
                <a:srgbClr val="000000"/>
              </a:solidFill>
              <a:latin typeface="Tex Gyre Bonum"/>
              <a:ea typeface="Tex Gyre Bonum"/>
              <a:cs typeface="Tex Gyre Bonum"/>
              <a:sym typeface="Tex Gyre Bonum"/>
            </a:endParaRPr>
          </a:p>
        </p:txBody>
      </p:sp>
      <p:sp>
        <p:nvSpPr>
          <p:cNvPr id="6" name="TextBox 6">
            <a:extLst>
              <a:ext uri="{FF2B5EF4-FFF2-40B4-BE49-F238E27FC236}">
                <a16:creationId xmlns:a16="http://schemas.microsoft.com/office/drawing/2014/main" id="{B97A3EBF-5F25-4CDE-1715-4CE07A0DB7D2}"/>
              </a:ext>
            </a:extLst>
          </p:cNvPr>
          <p:cNvSpPr txBox="1"/>
          <p:nvPr/>
        </p:nvSpPr>
        <p:spPr>
          <a:xfrm>
            <a:off x="2293534" y="716934"/>
            <a:ext cx="13921931" cy="1344926"/>
          </a:xfrm>
          <a:prstGeom prst="rect">
            <a:avLst/>
          </a:prstGeom>
        </p:spPr>
        <p:txBody>
          <a:bodyPr lIns="0" tIns="0" rIns="0" bIns="0" rtlCol="0" anchor="t">
            <a:spAutoFit/>
          </a:bodyPr>
          <a:lstStyle/>
          <a:p>
            <a:pPr algn="ctr">
              <a:lnSpc>
                <a:spcPts val="10199"/>
              </a:lnSpc>
            </a:pPr>
            <a:r>
              <a:rPr lang="en-US" sz="10199" b="1" spc="-346" dirty="0">
                <a:solidFill>
                  <a:srgbClr val="2E2E2E"/>
                </a:solidFill>
                <a:latin typeface="Montserrat Bold"/>
                <a:ea typeface="Montserrat Bold"/>
                <a:cs typeface="Montserrat Bold"/>
                <a:sym typeface="Montserrat Bold"/>
              </a:rPr>
              <a:t>Overview</a:t>
            </a:r>
          </a:p>
        </p:txBody>
      </p:sp>
    </p:spTree>
    <p:extLst>
      <p:ext uri="{BB962C8B-B14F-4D97-AF65-F5344CB8AC3E}">
        <p14:creationId xmlns:p14="http://schemas.microsoft.com/office/powerpoint/2010/main" val="3748235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EFEC"/>
        </a:solidFill>
        <a:effectLst/>
      </p:bgPr>
    </p:bg>
    <p:spTree>
      <p:nvGrpSpPr>
        <p:cNvPr id="1" name=""/>
        <p:cNvGrpSpPr/>
        <p:nvPr/>
      </p:nvGrpSpPr>
      <p:grpSpPr>
        <a:xfrm>
          <a:off x="0" y="0"/>
          <a:ext cx="0" cy="0"/>
          <a:chOff x="0" y="0"/>
          <a:chExt cx="0" cy="0"/>
        </a:xfrm>
      </p:grpSpPr>
      <p:sp>
        <p:nvSpPr>
          <p:cNvPr id="2" name="Freeform 2"/>
          <p:cNvSpPr/>
          <p:nvPr/>
        </p:nvSpPr>
        <p:spPr>
          <a:xfrm rot="-1526556">
            <a:off x="-14304521" y="-10565310"/>
            <a:ext cx="14258479" cy="14258479"/>
          </a:xfrm>
          <a:custGeom>
            <a:avLst/>
            <a:gdLst/>
            <a:ahLst/>
            <a:cxnLst/>
            <a:rect l="l" t="t" r="r" b="b"/>
            <a:pathLst>
              <a:path w="14258479" h="14258479">
                <a:moveTo>
                  <a:pt x="0" y="0"/>
                </a:moveTo>
                <a:lnTo>
                  <a:pt x="14258478" y="0"/>
                </a:lnTo>
                <a:lnTo>
                  <a:pt x="14258478" y="14258479"/>
                </a:lnTo>
                <a:lnTo>
                  <a:pt x="0" y="14258479"/>
                </a:lnTo>
                <a:lnTo>
                  <a:pt x="0"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5381105" y="1034874"/>
            <a:ext cx="7714761" cy="963930"/>
          </a:xfrm>
          <a:prstGeom prst="rect">
            <a:avLst/>
          </a:prstGeom>
        </p:spPr>
        <p:txBody>
          <a:bodyPr lIns="0" tIns="0" rIns="0" bIns="0" rtlCol="0" anchor="t">
            <a:spAutoFit/>
          </a:bodyPr>
          <a:lstStyle/>
          <a:p>
            <a:pPr algn="ctr">
              <a:lnSpc>
                <a:spcPts val="7200"/>
              </a:lnSpc>
            </a:pPr>
            <a:r>
              <a:rPr lang="en-US" sz="7200" b="1" spc="-244">
                <a:solidFill>
                  <a:srgbClr val="2E2E2E"/>
                </a:solidFill>
                <a:latin typeface="Montserrat Bold"/>
                <a:ea typeface="Montserrat Bold"/>
                <a:cs typeface="Montserrat Bold"/>
                <a:sym typeface="Montserrat Bold"/>
              </a:rPr>
              <a:t>DEPARTMENTS</a:t>
            </a:r>
          </a:p>
        </p:txBody>
      </p:sp>
      <p:grpSp>
        <p:nvGrpSpPr>
          <p:cNvPr id="4" name="Group 4"/>
          <p:cNvGrpSpPr/>
          <p:nvPr/>
        </p:nvGrpSpPr>
        <p:grpSpPr>
          <a:xfrm>
            <a:off x="9238485" y="5397252"/>
            <a:ext cx="1202866" cy="120286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5854"/>
            </a:solidFill>
          </p:spPr>
          <p:txBody>
            <a:bodyPr/>
            <a:lstStyle/>
            <a:p>
              <a:endParaRPr lang="en-US"/>
            </a:p>
          </p:txBody>
        </p:sp>
        <p:sp>
          <p:nvSpPr>
            <p:cNvPr id="6" name="TextBox 6"/>
            <p:cNvSpPr txBox="1"/>
            <p:nvPr/>
          </p:nvSpPr>
          <p:spPr>
            <a:xfrm>
              <a:off x="76200" y="76200"/>
              <a:ext cx="660400" cy="660400"/>
            </a:xfrm>
            <a:prstGeom prst="rect">
              <a:avLst/>
            </a:prstGeom>
          </p:spPr>
          <p:txBody>
            <a:bodyPr lIns="50800" tIns="50800" rIns="50800" bIns="50800" rtlCol="0" anchor="ctr"/>
            <a:lstStyle/>
            <a:p>
              <a:pPr algn="ctr">
                <a:lnSpc>
                  <a:spcPts val="1920"/>
                </a:lnSpc>
              </a:pPr>
              <a:endParaRPr/>
            </a:p>
          </p:txBody>
        </p:sp>
      </p:grpSp>
      <p:sp>
        <p:nvSpPr>
          <p:cNvPr id="7" name="TextBox 7"/>
          <p:cNvSpPr txBox="1"/>
          <p:nvPr/>
        </p:nvSpPr>
        <p:spPr>
          <a:xfrm>
            <a:off x="10260552" y="3729881"/>
            <a:ext cx="361598" cy="266700"/>
          </a:xfrm>
          <a:prstGeom prst="rect">
            <a:avLst/>
          </a:prstGeom>
        </p:spPr>
        <p:txBody>
          <a:bodyPr lIns="0" tIns="0" rIns="0" bIns="0" rtlCol="0" anchor="t">
            <a:spAutoFit/>
          </a:bodyPr>
          <a:lstStyle/>
          <a:p>
            <a:pPr algn="ctr">
              <a:lnSpc>
                <a:spcPts val="2160"/>
              </a:lnSpc>
            </a:pPr>
            <a:r>
              <a:rPr lang="en-US" sz="1800" b="1">
                <a:solidFill>
                  <a:srgbClr val="FFFFFF"/>
                </a:solidFill>
                <a:latin typeface="Open Sauce Bold"/>
                <a:ea typeface="Open Sauce Bold"/>
                <a:cs typeface="Open Sauce Bold"/>
                <a:sym typeface="Open Sauce Bold"/>
              </a:rPr>
              <a:t>01</a:t>
            </a:r>
          </a:p>
        </p:txBody>
      </p:sp>
      <p:sp>
        <p:nvSpPr>
          <p:cNvPr id="8" name="TextBox 8"/>
          <p:cNvSpPr txBox="1"/>
          <p:nvPr/>
        </p:nvSpPr>
        <p:spPr>
          <a:xfrm>
            <a:off x="10241200" y="7853522"/>
            <a:ext cx="361598" cy="266700"/>
          </a:xfrm>
          <a:prstGeom prst="rect">
            <a:avLst/>
          </a:prstGeom>
        </p:spPr>
        <p:txBody>
          <a:bodyPr lIns="0" tIns="0" rIns="0" bIns="0" rtlCol="0" anchor="t">
            <a:spAutoFit/>
          </a:bodyPr>
          <a:lstStyle/>
          <a:p>
            <a:pPr algn="ctr">
              <a:lnSpc>
                <a:spcPts val="2160"/>
              </a:lnSpc>
            </a:pPr>
            <a:r>
              <a:rPr lang="en-US" sz="1800" b="1">
                <a:solidFill>
                  <a:srgbClr val="FFFFFF"/>
                </a:solidFill>
                <a:latin typeface="Open Sauce Bold"/>
                <a:ea typeface="Open Sauce Bold"/>
                <a:cs typeface="Open Sauce Bold"/>
                <a:sym typeface="Open Sauce Bold"/>
              </a:rPr>
              <a:t>06</a:t>
            </a:r>
          </a:p>
        </p:txBody>
      </p:sp>
      <p:sp>
        <p:nvSpPr>
          <p:cNvPr id="9" name="Freeform 9"/>
          <p:cNvSpPr/>
          <p:nvPr/>
        </p:nvSpPr>
        <p:spPr>
          <a:xfrm rot="-1259299">
            <a:off x="-8478061" y="-6770954"/>
            <a:ext cx="12995003" cy="12995003"/>
          </a:xfrm>
          <a:custGeom>
            <a:avLst/>
            <a:gdLst/>
            <a:ahLst/>
            <a:cxnLst/>
            <a:rect l="l" t="t" r="r" b="b"/>
            <a:pathLst>
              <a:path w="12995003" h="12995003">
                <a:moveTo>
                  <a:pt x="0" y="0"/>
                </a:moveTo>
                <a:lnTo>
                  <a:pt x="12995002" y="0"/>
                </a:lnTo>
                <a:lnTo>
                  <a:pt x="12995002" y="12995002"/>
                </a:lnTo>
                <a:lnTo>
                  <a:pt x="0" y="12995002"/>
                </a:lnTo>
                <a:lnTo>
                  <a:pt x="0"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a:hlinkClick r:id="rId6" action="ppaction://hlinksldjump"/>
          </p:cNvPr>
          <p:cNvSpPr/>
          <p:nvPr/>
        </p:nvSpPr>
        <p:spPr>
          <a:xfrm rot="-10367878">
            <a:off x="12251847" y="6859785"/>
            <a:ext cx="8128698" cy="8128698"/>
          </a:xfrm>
          <a:custGeom>
            <a:avLst/>
            <a:gdLst/>
            <a:ahLst/>
            <a:cxnLst/>
            <a:rect l="l" t="t" r="r" b="b"/>
            <a:pathLst>
              <a:path w="8128698" h="8128698">
                <a:moveTo>
                  <a:pt x="0" y="0"/>
                </a:moveTo>
                <a:lnTo>
                  <a:pt x="8128698" y="0"/>
                </a:lnTo>
                <a:lnTo>
                  <a:pt x="8128698" y="8128697"/>
                </a:lnTo>
                <a:lnTo>
                  <a:pt x="0" y="8128697"/>
                </a:lnTo>
                <a:lnTo>
                  <a:pt x="0"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p:cNvSpPr/>
          <p:nvPr/>
        </p:nvSpPr>
        <p:spPr>
          <a:xfrm flipH="1">
            <a:off x="9844662" y="3437079"/>
            <a:ext cx="2362980" cy="5001015"/>
          </a:xfrm>
          <a:custGeom>
            <a:avLst/>
            <a:gdLst/>
            <a:ahLst/>
            <a:cxnLst/>
            <a:rect l="l" t="t" r="r" b="b"/>
            <a:pathLst>
              <a:path w="2362980" h="5001015">
                <a:moveTo>
                  <a:pt x="2362980" y="0"/>
                </a:moveTo>
                <a:lnTo>
                  <a:pt x="0" y="0"/>
                </a:lnTo>
                <a:lnTo>
                  <a:pt x="0" y="5001015"/>
                </a:lnTo>
                <a:lnTo>
                  <a:pt x="2362980" y="5001015"/>
                </a:lnTo>
                <a:lnTo>
                  <a:pt x="236298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2" name="Freeform 12"/>
          <p:cNvSpPr/>
          <p:nvPr/>
        </p:nvSpPr>
        <p:spPr>
          <a:xfrm>
            <a:off x="6075845" y="3437079"/>
            <a:ext cx="2362980" cy="5001015"/>
          </a:xfrm>
          <a:custGeom>
            <a:avLst/>
            <a:gdLst/>
            <a:ahLst/>
            <a:cxnLst/>
            <a:rect l="l" t="t" r="r" b="b"/>
            <a:pathLst>
              <a:path w="2362980" h="5001015">
                <a:moveTo>
                  <a:pt x="0" y="0"/>
                </a:moveTo>
                <a:lnTo>
                  <a:pt x="2362980" y="0"/>
                </a:lnTo>
                <a:lnTo>
                  <a:pt x="2362980" y="5001015"/>
                </a:lnTo>
                <a:lnTo>
                  <a:pt x="0" y="500101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13" name="Group 13"/>
          <p:cNvGrpSpPr/>
          <p:nvPr/>
        </p:nvGrpSpPr>
        <p:grpSpPr>
          <a:xfrm>
            <a:off x="7864169" y="5397252"/>
            <a:ext cx="1202866" cy="1202866"/>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5854"/>
            </a:solidFill>
          </p:spPr>
          <p:txBody>
            <a:bodyPr/>
            <a:lstStyle/>
            <a:p>
              <a:endParaRPr lang="en-US"/>
            </a:p>
          </p:txBody>
        </p:sp>
        <p:sp>
          <p:nvSpPr>
            <p:cNvPr id="15" name="TextBox 15"/>
            <p:cNvSpPr txBox="1"/>
            <p:nvPr/>
          </p:nvSpPr>
          <p:spPr>
            <a:xfrm>
              <a:off x="76200" y="76200"/>
              <a:ext cx="660400" cy="660400"/>
            </a:xfrm>
            <a:prstGeom prst="rect">
              <a:avLst/>
            </a:prstGeom>
          </p:spPr>
          <p:txBody>
            <a:bodyPr lIns="50800" tIns="50800" rIns="50800" bIns="50800" rtlCol="0" anchor="ctr"/>
            <a:lstStyle/>
            <a:p>
              <a:pPr algn="ctr">
                <a:lnSpc>
                  <a:spcPts val="1920"/>
                </a:lnSpc>
              </a:pPr>
              <a:endParaRPr/>
            </a:p>
          </p:txBody>
        </p:sp>
      </p:grpSp>
      <p:sp>
        <p:nvSpPr>
          <p:cNvPr id="16" name="TextBox 16"/>
          <p:cNvSpPr txBox="1"/>
          <p:nvPr/>
        </p:nvSpPr>
        <p:spPr>
          <a:xfrm>
            <a:off x="1773670" y="3567956"/>
            <a:ext cx="4639445" cy="333375"/>
          </a:xfrm>
          <a:prstGeom prst="rect">
            <a:avLst/>
          </a:prstGeom>
        </p:spPr>
        <p:txBody>
          <a:bodyPr lIns="0" tIns="0" rIns="0" bIns="0" rtlCol="0" anchor="t">
            <a:spAutoFit/>
          </a:bodyPr>
          <a:lstStyle/>
          <a:p>
            <a:pPr algn="r">
              <a:lnSpc>
                <a:spcPts val="2639"/>
              </a:lnSpc>
            </a:pPr>
            <a:r>
              <a:rPr lang="en-US" sz="2199" b="1">
                <a:solidFill>
                  <a:srgbClr val="383B3B"/>
                </a:solidFill>
                <a:latin typeface="Open Sauce Bold"/>
                <a:ea typeface="Open Sauce Bold"/>
                <a:cs typeface="Open Sauce Bold"/>
                <a:sym typeface="Open Sauce Bold"/>
              </a:rPr>
              <a:t>INFORMATION TECHNOLOGY</a:t>
            </a:r>
          </a:p>
        </p:txBody>
      </p:sp>
      <p:sp>
        <p:nvSpPr>
          <p:cNvPr id="17" name="TextBox 17"/>
          <p:cNvSpPr txBox="1"/>
          <p:nvPr/>
        </p:nvSpPr>
        <p:spPr>
          <a:xfrm>
            <a:off x="1028700" y="4512785"/>
            <a:ext cx="4639445" cy="666750"/>
          </a:xfrm>
          <a:prstGeom prst="rect">
            <a:avLst/>
          </a:prstGeom>
        </p:spPr>
        <p:txBody>
          <a:bodyPr lIns="0" tIns="0" rIns="0" bIns="0" rtlCol="0" anchor="t">
            <a:spAutoFit/>
          </a:bodyPr>
          <a:lstStyle/>
          <a:p>
            <a:pPr algn="r">
              <a:lnSpc>
                <a:spcPts val="2639"/>
              </a:lnSpc>
            </a:pPr>
            <a:r>
              <a:rPr lang="en-US" sz="2199" b="1">
                <a:solidFill>
                  <a:srgbClr val="383B3B"/>
                </a:solidFill>
                <a:latin typeface="Open Sauce Bold"/>
                <a:ea typeface="Open Sauce Bold"/>
                <a:cs typeface="Open Sauce Bold"/>
                <a:sym typeface="Open Sauce Bold"/>
              </a:rPr>
              <a:t>COMPUTER SCIENCE ENGINEERING</a:t>
            </a:r>
          </a:p>
        </p:txBody>
      </p:sp>
      <p:sp>
        <p:nvSpPr>
          <p:cNvPr id="18" name="TextBox 18"/>
          <p:cNvSpPr txBox="1"/>
          <p:nvPr/>
        </p:nvSpPr>
        <p:spPr>
          <a:xfrm>
            <a:off x="293645" y="5703410"/>
            <a:ext cx="4639445" cy="666750"/>
          </a:xfrm>
          <a:prstGeom prst="rect">
            <a:avLst/>
          </a:prstGeom>
        </p:spPr>
        <p:txBody>
          <a:bodyPr lIns="0" tIns="0" rIns="0" bIns="0" rtlCol="0" anchor="t">
            <a:spAutoFit/>
          </a:bodyPr>
          <a:lstStyle/>
          <a:p>
            <a:pPr algn="r">
              <a:lnSpc>
                <a:spcPts val="2639"/>
              </a:lnSpc>
            </a:pPr>
            <a:r>
              <a:rPr lang="en-US" sz="2199" b="1">
                <a:solidFill>
                  <a:srgbClr val="383B3B"/>
                </a:solidFill>
                <a:latin typeface="Open Sauce Bold"/>
                <a:ea typeface="Open Sauce Bold"/>
                <a:cs typeface="Open Sauce Bold"/>
                <a:sym typeface="Open Sauce Bold"/>
              </a:rPr>
              <a:t>INSTRUMENTATION ENGINEERING</a:t>
            </a:r>
          </a:p>
        </p:txBody>
      </p:sp>
      <p:sp>
        <p:nvSpPr>
          <p:cNvPr id="19" name="TextBox 19"/>
          <p:cNvSpPr txBox="1"/>
          <p:nvPr/>
        </p:nvSpPr>
        <p:spPr>
          <a:xfrm>
            <a:off x="647175" y="6893192"/>
            <a:ext cx="4639445" cy="333375"/>
          </a:xfrm>
          <a:prstGeom prst="rect">
            <a:avLst/>
          </a:prstGeom>
        </p:spPr>
        <p:txBody>
          <a:bodyPr lIns="0" tIns="0" rIns="0" bIns="0" rtlCol="0" anchor="t">
            <a:spAutoFit/>
          </a:bodyPr>
          <a:lstStyle/>
          <a:p>
            <a:pPr algn="r">
              <a:lnSpc>
                <a:spcPts val="2639"/>
              </a:lnSpc>
            </a:pPr>
            <a:r>
              <a:rPr lang="en-US" sz="2199" b="1">
                <a:solidFill>
                  <a:srgbClr val="383B3B"/>
                </a:solidFill>
                <a:latin typeface="Open Sauce Bold"/>
                <a:ea typeface="Open Sauce Bold"/>
                <a:cs typeface="Open Sauce Bold"/>
                <a:sym typeface="Open Sauce Bold"/>
              </a:rPr>
              <a:t>TEXTILE ENGINEERING</a:t>
            </a:r>
          </a:p>
        </p:txBody>
      </p:sp>
      <p:sp>
        <p:nvSpPr>
          <p:cNvPr id="20" name="TextBox 20"/>
          <p:cNvSpPr txBox="1"/>
          <p:nvPr/>
        </p:nvSpPr>
        <p:spPr>
          <a:xfrm>
            <a:off x="1773670" y="8083817"/>
            <a:ext cx="4639445" cy="333375"/>
          </a:xfrm>
          <a:prstGeom prst="rect">
            <a:avLst/>
          </a:prstGeom>
        </p:spPr>
        <p:txBody>
          <a:bodyPr lIns="0" tIns="0" rIns="0" bIns="0" rtlCol="0" anchor="t">
            <a:spAutoFit/>
          </a:bodyPr>
          <a:lstStyle/>
          <a:p>
            <a:pPr algn="r">
              <a:lnSpc>
                <a:spcPts val="2639"/>
              </a:lnSpc>
            </a:pPr>
            <a:r>
              <a:rPr lang="en-US" sz="2199" b="1">
                <a:solidFill>
                  <a:srgbClr val="383B3B"/>
                </a:solidFill>
                <a:latin typeface="Open Sauce Bold"/>
                <a:ea typeface="Open Sauce Bold"/>
                <a:cs typeface="Open Sauce Bold"/>
                <a:sym typeface="Open Sauce Bold"/>
              </a:rPr>
              <a:t>ELECTRICAL ENGINEERING</a:t>
            </a:r>
          </a:p>
        </p:txBody>
      </p:sp>
      <p:sp>
        <p:nvSpPr>
          <p:cNvPr id="21" name="TextBox 21"/>
          <p:cNvSpPr txBox="1"/>
          <p:nvPr/>
        </p:nvSpPr>
        <p:spPr>
          <a:xfrm>
            <a:off x="11996179" y="3563193"/>
            <a:ext cx="4639445" cy="333375"/>
          </a:xfrm>
          <a:prstGeom prst="rect">
            <a:avLst/>
          </a:prstGeom>
        </p:spPr>
        <p:txBody>
          <a:bodyPr lIns="0" tIns="0" rIns="0" bIns="0" rtlCol="0" anchor="t">
            <a:spAutoFit/>
          </a:bodyPr>
          <a:lstStyle/>
          <a:p>
            <a:pPr algn="l">
              <a:lnSpc>
                <a:spcPts val="2639"/>
              </a:lnSpc>
            </a:pPr>
            <a:r>
              <a:rPr lang="en-US" sz="2199" b="1">
                <a:solidFill>
                  <a:srgbClr val="383B3B"/>
                </a:solidFill>
                <a:latin typeface="Open Sauce Bold"/>
                <a:ea typeface="Open Sauce Bold"/>
                <a:cs typeface="Open Sauce Bold"/>
                <a:sym typeface="Open Sauce Bold"/>
              </a:rPr>
              <a:t>PRODUCTION ENGINEERING</a:t>
            </a:r>
          </a:p>
        </p:txBody>
      </p:sp>
      <p:sp>
        <p:nvSpPr>
          <p:cNvPr id="22" name="TextBox 22"/>
          <p:cNvSpPr txBox="1"/>
          <p:nvPr/>
        </p:nvSpPr>
        <p:spPr>
          <a:xfrm>
            <a:off x="11996179" y="7988567"/>
            <a:ext cx="4639445" cy="333375"/>
          </a:xfrm>
          <a:prstGeom prst="rect">
            <a:avLst/>
          </a:prstGeom>
        </p:spPr>
        <p:txBody>
          <a:bodyPr lIns="0" tIns="0" rIns="0" bIns="0" rtlCol="0" anchor="t">
            <a:spAutoFit/>
          </a:bodyPr>
          <a:lstStyle/>
          <a:p>
            <a:pPr algn="l">
              <a:lnSpc>
                <a:spcPts val="2639"/>
              </a:lnSpc>
            </a:pPr>
            <a:r>
              <a:rPr lang="en-US" sz="2199" b="1">
                <a:solidFill>
                  <a:srgbClr val="383B3B"/>
                </a:solidFill>
                <a:latin typeface="Open Sauce Bold"/>
                <a:ea typeface="Open Sauce Bold"/>
                <a:cs typeface="Open Sauce Bold"/>
                <a:sym typeface="Open Sauce Bold"/>
              </a:rPr>
              <a:t>CIVIL ENGINEERING</a:t>
            </a:r>
          </a:p>
        </p:txBody>
      </p:sp>
      <p:sp>
        <p:nvSpPr>
          <p:cNvPr id="23" name="TextBox 23"/>
          <p:cNvSpPr txBox="1"/>
          <p:nvPr/>
        </p:nvSpPr>
        <p:spPr>
          <a:xfrm>
            <a:off x="12619855" y="6893192"/>
            <a:ext cx="4639445" cy="333375"/>
          </a:xfrm>
          <a:prstGeom prst="rect">
            <a:avLst/>
          </a:prstGeom>
        </p:spPr>
        <p:txBody>
          <a:bodyPr lIns="0" tIns="0" rIns="0" bIns="0" rtlCol="0" anchor="t">
            <a:spAutoFit/>
          </a:bodyPr>
          <a:lstStyle/>
          <a:p>
            <a:pPr algn="l">
              <a:lnSpc>
                <a:spcPts val="2639"/>
              </a:lnSpc>
            </a:pPr>
            <a:r>
              <a:rPr lang="en-US" sz="2199" b="1">
                <a:solidFill>
                  <a:srgbClr val="383B3B"/>
                </a:solidFill>
                <a:latin typeface="Open Sauce Bold"/>
                <a:ea typeface="Open Sauce Bold"/>
                <a:cs typeface="Open Sauce Bold"/>
                <a:sym typeface="Open Sauce Bold"/>
              </a:rPr>
              <a:t>CHEMICAL ENGINEERING</a:t>
            </a:r>
          </a:p>
        </p:txBody>
      </p:sp>
      <p:sp>
        <p:nvSpPr>
          <p:cNvPr id="24" name="TextBox 24"/>
          <p:cNvSpPr txBox="1"/>
          <p:nvPr/>
        </p:nvSpPr>
        <p:spPr>
          <a:xfrm>
            <a:off x="12983414" y="5604211"/>
            <a:ext cx="5074745" cy="666750"/>
          </a:xfrm>
          <a:prstGeom prst="rect">
            <a:avLst/>
          </a:prstGeom>
        </p:spPr>
        <p:txBody>
          <a:bodyPr lIns="0" tIns="0" rIns="0" bIns="0" rtlCol="0" anchor="t">
            <a:spAutoFit/>
          </a:bodyPr>
          <a:lstStyle/>
          <a:p>
            <a:pPr algn="l">
              <a:lnSpc>
                <a:spcPts val="2639"/>
              </a:lnSpc>
            </a:pPr>
            <a:r>
              <a:rPr lang="en-US" sz="2199" b="1">
                <a:solidFill>
                  <a:srgbClr val="383B3B"/>
                </a:solidFill>
                <a:latin typeface="Open Sauce Bold"/>
                <a:ea typeface="Open Sauce Bold"/>
                <a:cs typeface="Open Sauce Bold"/>
                <a:sym typeface="Open Sauce Bold"/>
              </a:rPr>
              <a:t>ELECTRONICS &amp; TELECOMMUNICATION</a:t>
            </a:r>
          </a:p>
        </p:txBody>
      </p:sp>
      <p:sp>
        <p:nvSpPr>
          <p:cNvPr id="25" name="TextBox 25"/>
          <p:cNvSpPr txBox="1"/>
          <p:nvPr/>
        </p:nvSpPr>
        <p:spPr>
          <a:xfrm>
            <a:off x="12617217" y="4512785"/>
            <a:ext cx="4639445" cy="333375"/>
          </a:xfrm>
          <a:prstGeom prst="rect">
            <a:avLst/>
          </a:prstGeom>
        </p:spPr>
        <p:txBody>
          <a:bodyPr lIns="0" tIns="0" rIns="0" bIns="0" rtlCol="0" anchor="t">
            <a:spAutoFit/>
          </a:bodyPr>
          <a:lstStyle/>
          <a:p>
            <a:pPr algn="l">
              <a:lnSpc>
                <a:spcPts val="2639"/>
              </a:lnSpc>
            </a:pPr>
            <a:r>
              <a:rPr lang="en-US" sz="2199" b="1">
                <a:solidFill>
                  <a:srgbClr val="383B3B"/>
                </a:solidFill>
                <a:latin typeface="Open Sauce Bold"/>
                <a:ea typeface="Open Sauce Bold"/>
                <a:cs typeface="Open Sauce Bold"/>
                <a:sym typeface="Open Sauce Bold"/>
              </a:rPr>
              <a:t>MECHANICAL ENGINEERING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EFEC"/>
        </a:solidFill>
        <a:effectLst/>
      </p:bgPr>
    </p:bg>
    <p:spTree>
      <p:nvGrpSpPr>
        <p:cNvPr id="1" name="">
          <a:extLst>
            <a:ext uri="{FF2B5EF4-FFF2-40B4-BE49-F238E27FC236}">
              <a16:creationId xmlns:a16="http://schemas.microsoft.com/office/drawing/2014/main" id="{09CE5DD0-DFB3-5B4C-1CF7-243252A88BD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25DB486-3D48-6117-1660-308A864A34DA}"/>
              </a:ext>
            </a:extLst>
          </p:cNvPr>
          <p:cNvSpPr/>
          <p:nvPr/>
        </p:nvSpPr>
        <p:spPr>
          <a:xfrm rot="1415601">
            <a:off x="11178872" y="-8647208"/>
            <a:ext cx="15132390" cy="15132390"/>
          </a:xfrm>
          <a:custGeom>
            <a:avLst/>
            <a:gdLst/>
            <a:ahLst/>
            <a:cxnLst/>
            <a:rect l="l" t="t" r="r" b="b"/>
            <a:pathLst>
              <a:path w="15132390" h="15132390">
                <a:moveTo>
                  <a:pt x="0" y="0"/>
                </a:moveTo>
                <a:lnTo>
                  <a:pt x="15132390" y="0"/>
                </a:lnTo>
                <a:lnTo>
                  <a:pt x="15132390" y="15132390"/>
                </a:lnTo>
                <a:lnTo>
                  <a:pt x="0" y="15132390"/>
                </a:lnTo>
                <a:lnTo>
                  <a:pt x="0"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40AD3981-9F97-7AE6-83C3-731CDA3D6C35}"/>
              </a:ext>
            </a:extLst>
          </p:cNvPr>
          <p:cNvSpPr/>
          <p:nvPr/>
        </p:nvSpPr>
        <p:spPr>
          <a:xfrm rot="-9975434">
            <a:off x="3511542" y="6425317"/>
            <a:ext cx="12269998" cy="12269998"/>
          </a:xfrm>
          <a:custGeom>
            <a:avLst/>
            <a:gdLst/>
            <a:ahLst/>
            <a:cxnLst/>
            <a:rect l="l" t="t" r="r" b="b"/>
            <a:pathLst>
              <a:path w="12269998" h="12269998">
                <a:moveTo>
                  <a:pt x="0" y="0"/>
                </a:moveTo>
                <a:lnTo>
                  <a:pt x="12269998" y="0"/>
                </a:lnTo>
                <a:lnTo>
                  <a:pt x="12269998" y="12269998"/>
                </a:lnTo>
                <a:lnTo>
                  <a:pt x="0" y="12269998"/>
                </a:lnTo>
                <a:lnTo>
                  <a:pt x="0"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9BF2F653-D558-02BA-E243-8CADA1DA8D21}"/>
              </a:ext>
            </a:extLst>
          </p:cNvPr>
          <p:cNvSpPr/>
          <p:nvPr/>
        </p:nvSpPr>
        <p:spPr>
          <a:xfrm rot="-1795323">
            <a:off x="-8621604" y="-11367032"/>
            <a:ext cx="16539127" cy="16539127"/>
          </a:xfrm>
          <a:custGeom>
            <a:avLst/>
            <a:gdLst/>
            <a:ahLst/>
            <a:cxnLst/>
            <a:rect l="l" t="t" r="r" b="b"/>
            <a:pathLst>
              <a:path w="16539127" h="16539127">
                <a:moveTo>
                  <a:pt x="0" y="0"/>
                </a:moveTo>
                <a:lnTo>
                  <a:pt x="16539128" y="0"/>
                </a:lnTo>
                <a:lnTo>
                  <a:pt x="16539128" y="16539127"/>
                </a:lnTo>
                <a:lnTo>
                  <a:pt x="0" y="16539127"/>
                </a:lnTo>
                <a:lnTo>
                  <a:pt x="0" y="0"/>
                </a:lnTo>
                <a:close/>
              </a:path>
            </a:pathLst>
          </a:custGeom>
          <a:blipFill>
            <a:blip r:embed="rId6">
              <a:alphaModFix amt="47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AutoShape 5">
            <a:extLst>
              <a:ext uri="{FF2B5EF4-FFF2-40B4-BE49-F238E27FC236}">
                <a16:creationId xmlns:a16="http://schemas.microsoft.com/office/drawing/2014/main" id="{78FE5CAF-C26A-39D7-D284-E2FB7B588E17}"/>
              </a:ext>
            </a:extLst>
          </p:cNvPr>
          <p:cNvSpPr/>
          <p:nvPr/>
        </p:nvSpPr>
        <p:spPr>
          <a:xfrm flipV="1">
            <a:off x="7744025" y="9831912"/>
            <a:ext cx="0" cy="407463"/>
          </a:xfrm>
          <a:prstGeom prst="line">
            <a:avLst/>
          </a:prstGeom>
          <a:ln w="38100" cap="flat">
            <a:solidFill>
              <a:srgbClr val="FAFAFA"/>
            </a:solidFill>
            <a:prstDash val="solid"/>
            <a:headEnd type="none" w="sm" len="sm"/>
            <a:tailEnd type="none" w="sm" len="sm"/>
          </a:ln>
        </p:spPr>
        <p:txBody>
          <a:bodyPr/>
          <a:lstStyle/>
          <a:p>
            <a:endParaRPr lang="en-US"/>
          </a:p>
        </p:txBody>
      </p:sp>
      <p:sp>
        <p:nvSpPr>
          <p:cNvPr id="6" name="TextBox 6">
            <a:extLst>
              <a:ext uri="{FF2B5EF4-FFF2-40B4-BE49-F238E27FC236}">
                <a16:creationId xmlns:a16="http://schemas.microsoft.com/office/drawing/2014/main" id="{73155827-7BFF-EBB6-19FB-A7A367B391DD}"/>
              </a:ext>
            </a:extLst>
          </p:cNvPr>
          <p:cNvSpPr txBox="1"/>
          <p:nvPr/>
        </p:nvSpPr>
        <p:spPr>
          <a:xfrm>
            <a:off x="1028700" y="358782"/>
            <a:ext cx="16502946" cy="928162"/>
          </a:xfrm>
          <a:prstGeom prst="rect">
            <a:avLst/>
          </a:prstGeom>
        </p:spPr>
        <p:txBody>
          <a:bodyPr lIns="0" tIns="0" rIns="0" bIns="0" rtlCol="0" anchor="t">
            <a:spAutoFit/>
          </a:bodyPr>
          <a:lstStyle/>
          <a:p>
            <a:pPr algn="ctr">
              <a:lnSpc>
                <a:spcPts val="6916"/>
              </a:lnSpc>
            </a:pPr>
            <a:r>
              <a:rPr lang="en-US" sz="6916" b="1" spc="-235" dirty="0">
                <a:solidFill>
                  <a:srgbClr val="2E2E2E"/>
                </a:solidFill>
                <a:latin typeface="Montserrat Bold"/>
                <a:ea typeface="Montserrat Bold"/>
                <a:cs typeface="Montserrat Bold"/>
                <a:sym typeface="Montserrat Bold"/>
              </a:rPr>
              <a:t>TRAINING &amp; PLACEMENT CELL</a:t>
            </a:r>
          </a:p>
        </p:txBody>
      </p:sp>
      <p:sp>
        <p:nvSpPr>
          <p:cNvPr id="10" name="TextBox 9">
            <a:extLst>
              <a:ext uri="{FF2B5EF4-FFF2-40B4-BE49-F238E27FC236}">
                <a16:creationId xmlns:a16="http://schemas.microsoft.com/office/drawing/2014/main" id="{E11E26FD-B69F-0A68-2FB2-FA49EACF1BA3}"/>
              </a:ext>
            </a:extLst>
          </p:cNvPr>
          <p:cNvSpPr txBox="1"/>
          <p:nvPr/>
        </p:nvSpPr>
        <p:spPr>
          <a:xfrm>
            <a:off x="1727182" y="2324100"/>
            <a:ext cx="14833636" cy="6555641"/>
          </a:xfrm>
          <a:prstGeom prst="rect">
            <a:avLst/>
          </a:prstGeom>
          <a:noFill/>
        </p:spPr>
        <p:txBody>
          <a:bodyPr wrap="square">
            <a:spAutoFit/>
          </a:bodyPr>
          <a:lstStyle/>
          <a:p>
            <a:r>
              <a:rPr lang="en-US" sz="3000" b="1" dirty="0"/>
              <a:t>Role &amp; Importance of Training &amp; Placement (T&amp;P) Cell:</a:t>
            </a:r>
          </a:p>
          <a:p>
            <a:endParaRPr lang="en-US" sz="3000" b="1" dirty="0"/>
          </a:p>
          <a:p>
            <a:pPr marL="457200" indent="-457200">
              <a:buFont typeface="Arial" panose="020B0604020202020204" pitchFamily="34" charset="0"/>
              <a:buChar char="•"/>
            </a:pPr>
            <a:r>
              <a:rPr lang="en-US" sz="3000" b="1" dirty="0"/>
              <a:t>Bridge between College &amp; Industry</a:t>
            </a:r>
            <a:endParaRPr lang="en-US" sz="3000" dirty="0"/>
          </a:p>
          <a:p>
            <a:pPr marL="914400" lvl="1" indent="-457200">
              <a:buFont typeface="Courier New" panose="02070309020205020404" pitchFamily="49" charset="0"/>
              <a:buChar char="o"/>
            </a:pPr>
            <a:r>
              <a:rPr lang="en-US" sz="3000" dirty="0"/>
              <a:t>Connects students with top companies for placements &amp; internships.</a:t>
            </a:r>
          </a:p>
          <a:p>
            <a:pPr marL="457200" indent="-457200">
              <a:buFont typeface="Arial" panose="020B0604020202020204" pitchFamily="34" charset="0"/>
              <a:buChar char="•"/>
            </a:pPr>
            <a:r>
              <a:rPr lang="en-US" sz="3000" b="1" dirty="0"/>
              <a:t>Career Development Support</a:t>
            </a:r>
            <a:endParaRPr lang="en-US" sz="3000" dirty="0"/>
          </a:p>
          <a:p>
            <a:pPr marL="914400" lvl="1" indent="-457200">
              <a:buFont typeface="Courier New" panose="02070309020205020404" pitchFamily="49" charset="0"/>
              <a:buChar char="o"/>
            </a:pPr>
            <a:r>
              <a:rPr lang="en-US" sz="3000" dirty="0"/>
              <a:t>Organizes aptitude, technical, and communication skill training.</a:t>
            </a:r>
          </a:p>
          <a:p>
            <a:pPr marL="914400" lvl="1" indent="-457200">
              <a:buFont typeface="Courier New" panose="02070309020205020404" pitchFamily="49" charset="0"/>
              <a:buChar char="o"/>
            </a:pPr>
            <a:r>
              <a:rPr lang="en-US" sz="3000" dirty="0"/>
              <a:t>Conducts mock interviews and group discussions.</a:t>
            </a:r>
          </a:p>
          <a:p>
            <a:pPr marL="457200" indent="-457200">
              <a:buFont typeface="Arial" panose="020B0604020202020204" pitchFamily="34" charset="0"/>
              <a:buChar char="•"/>
            </a:pPr>
            <a:r>
              <a:rPr lang="en-US" sz="3000" b="1" dirty="0"/>
              <a:t>Opportunities &amp; Exposure</a:t>
            </a:r>
            <a:endParaRPr lang="en-US" sz="3000" dirty="0"/>
          </a:p>
          <a:p>
            <a:pPr marL="914400" lvl="1" indent="-457200">
              <a:buFont typeface="Courier New" panose="02070309020205020404" pitchFamily="49" charset="0"/>
              <a:buChar char="o"/>
            </a:pPr>
            <a:r>
              <a:rPr lang="en-US" sz="3000" dirty="0"/>
              <a:t>Arranges workshops, industrial visits, expert lectures.</a:t>
            </a:r>
          </a:p>
          <a:p>
            <a:pPr marL="914400" lvl="1" indent="-457200">
              <a:buFont typeface="Courier New" panose="02070309020205020404" pitchFamily="49" charset="0"/>
              <a:buChar char="o"/>
            </a:pPr>
            <a:r>
              <a:rPr lang="en-US" sz="3000" dirty="0"/>
              <a:t>Provides internship and job opportunities.</a:t>
            </a:r>
          </a:p>
          <a:p>
            <a:pPr marL="457200" indent="-457200">
              <a:buFont typeface="Arial" panose="020B0604020202020204" pitchFamily="34" charset="0"/>
              <a:buChar char="•"/>
            </a:pPr>
            <a:r>
              <a:rPr lang="en-US" sz="3000" b="1" dirty="0"/>
              <a:t>Overall Mission</a:t>
            </a:r>
            <a:endParaRPr lang="en-US" sz="3000" dirty="0"/>
          </a:p>
          <a:p>
            <a:pPr marL="914400" lvl="1" indent="-457200">
              <a:buFont typeface="Courier New" panose="02070309020205020404" pitchFamily="49" charset="0"/>
              <a:buChar char="o"/>
            </a:pPr>
            <a:r>
              <a:rPr lang="en-US" sz="3000" dirty="0"/>
              <a:t>Make students </a:t>
            </a:r>
            <a:r>
              <a:rPr lang="en-US" sz="3000" b="1" dirty="0"/>
              <a:t>industry-ready, confident, and employable</a:t>
            </a:r>
            <a:r>
              <a:rPr lang="en-US" sz="3000" dirty="0"/>
              <a:t> from the start of their journey.</a:t>
            </a:r>
          </a:p>
          <a:p>
            <a:pPr marL="457200" indent="-457200">
              <a:buFont typeface="Arial" panose="020B0604020202020204" pitchFamily="34" charset="0"/>
              <a:buChar char="•"/>
            </a:pPr>
            <a:endParaRPr lang="en-IN" sz="3000" dirty="0"/>
          </a:p>
        </p:txBody>
      </p:sp>
    </p:spTree>
    <p:extLst>
      <p:ext uri="{BB962C8B-B14F-4D97-AF65-F5344CB8AC3E}">
        <p14:creationId xmlns:p14="http://schemas.microsoft.com/office/powerpoint/2010/main" val="2221228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EFEC"/>
        </a:solidFill>
        <a:effectLst/>
      </p:bgPr>
    </p:bg>
    <p:spTree>
      <p:nvGrpSpPr>
        <p:cNvPr id="1" name="">
          <a:extLst>
            <a:ext uri="{FF2B5EF4-FFF2-40B4-BE49-F238E27FC236}">
              <a16:creationId xmlns:a16="http://schemas.microsoft.com/office/drawing/2014/main" id="{AD9E2320-4BE6-2002-983A-E6C1638551A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2E67290-604D-243D-DE37-958ACF62C1D8}"/>
              </a:ext>
            </a:extLst>
          </p:cNvPr>
          <p:cNvSpPr/>
          <p:nvPr/>
        </p:nvSpPr>
        <p:spPr>
          <a:xfrm rot="1415601">
            <a:off x="11178872" y="-8647208"/>
            <a:ext cx="15132390" cy="15132390"/>
          </a:xfrm>
          <a:custGeom>
            <a:avLst/>
            <a:gdLst/>
            <a:ahLst/>
            <a:cxnLst/>
            <a:rect l="l" t="t" r="r" b="b"/>
            <a:pathLst>
              <a:path w="15132390" h="15132390">
                <a:moveTo>
                  <a:pt x="0" y="0"/>
                </a:moveTo>
                <a:lnTo>
                  <a:pt x="15132390" y="0"/>
                </a:lnTo>
                <a:lnTo>
                  <a:pt x="15132390" y="15132390"/>
                </a:lnTo>
                <a:lnTo>
                  <a:pt x="0" y="15132390"/>
                </a:lnTo>
                <a:lnTo>
                  <a:pt x="0"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1B001149-6EFD-B3CB-2D19-0CD435F3C5D2}"/>
              </a:ext>
            </a:extLst>
          </p:cNvPr>
          <p:cNvSpPr/>
          <p:nvPr/>
        </p:nvSpPr>
        <p:spPr>
          <a:xfrm rot="-9975434">
            <a:off x="3511542" y="6425317"/>
            <a:ext cx="12269998" cy="12269998"/>
          </a:xfrm>
          <a:custGeom>
            <a:avLst/>
            <a:gdLst/>
            <a:ahLst/>
            <a:cxnLst/>
            <a:rect l="l" t="t" r="r" b="b"/>
            <a:pathLst>
              <a:path w="12269998" h="12269998">
                <a:moveTo>
                  <a:pt x="0" y="0"/>
                </a:moveTo>
                <a:lnTo>
                  <a:pt x="12269998" y="0"/>
                </a:lnTo>
                <a:lnTo>
                  <a:pt x="12269998" y="12269998"/>
                </a:lnTo>
                <a:lnTo>
                  <a:pt x="0" y="12269998"/>
                </a:lnTo>
                <a:lnTo>
                  <a:pt x="0"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EABF2070-B189-5A6C-BA2B-3D2707E0685B}"/>
              </a:ext>
            </a:extLst>
          </p:cNvPr>
          <p:cNvSpPr/>
          <p:nvPr/>
        </p:nvSpPr>
        <p:spPr>
          <a:xfrm rot="-1795323">
            <a:off x="-8621604" y="-11367032"/>
            <a:ext cx="16539127" cy="16539127"/>
          </a:xfrm>
          <a:custGeom>
            <a:avLst/>
            <a:gdLst/>
            <a:ahLst/>
            <a:cxnLst/>
            <a:rect l="l" t="t" r="r" b="b"/>
            <a:pathLst>
              <a:path w="16539127" h="16539127">
                <a:moveTo>
                  <a:pt x="0" y="0"/>
                </a:moveTo>
                <a:lnTo>
                  <a:pt x="16539128" y="0"/>
                </a:lnTo>
                <a:lnTo>
                  <a:pt x="16539128" y="16539127"/>
                </a:lnTo>
                <a:lnTo>
                  <a:pt x="0" y="16539127"/>
                </a:lnTo>
                <a:lnTo>
                  <a:pt x="0" y="0"/>
                </a:lnTo>
                <a:close/>
              </a:path>
            </a:pathLst>
          </a:custGeom>
          <a:blipFill>
            <a:blip r:embed="rId6">
              <a:alphaModFix amt="47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AutoShape 5">
            <a:extLst>
              <a:ext uri="{FF2B5EF4-FFF2-40B4-BE49-F238E27FC236}">
                <a16:creationId xmlns:a16="http://schemas.microsoft.com/office/drawing/2014/main" id="{C19D8DC7-07DD-8EF1-C92D-28734FBA0888}"/>
              </a:ext>
            </a:extLst>
          </p:cNvPr>
          <p:cNvSpPr/>
          <p:nvPr/>
        </p:nvSpPr>
        <p:spPr>
          <a:xfrm flipV="1">
            <a:off x="7744025" y="9831912"/>
            <a:ext cx="0" cy="407463"/>
          </a:xfrm>
          <a:prstGeom prst="line">
            <a:avLst/>
          </a:prstGeom>
          <a:ln w="38100" cap="flat">
            <a:solidFill>
              <a:srgbClr val="FAFAFA"/>
            </a:solidFill>
            <a:prstDash val="solid"/>
            <a:headEnd type="none" w="sm" len="sm"/>
            <a:tailEnd type="none" w="sm" len="sm"/>
          </a:ln>
        </p:spPr>
        <p:txBody>
          <a:bodyPr/>
          <a:lstStyle/>
          <a:p>
            <a:endParaRPr lang="en-US"/>
          </a:p>
        </p:txBody>
      </p:sp>
      <p:sp>
        <p:nvSpPr>
          <p:cNvPr id="6" name="TextBox 6">
            <a:extLst>
              <a:ext uri="{FF2B5EF4-FFF2-40B4-BE49-F238E27FC236}">
                <a16:creationId xmlns:a16="http://schemas.microsoft.com/office/drawing/2014/main" id="{65D655BC-E6DD-2310-1633-9C7533AF825C}"/>
              </a:ext>
            </a:extLst>
          </p:cNvPr>
          <p:cNvSpPr txBox="1"/>
          <p:nvPr/>
        </p:nvSpPr>
        <p:spPr>
          <a:xfrm>
            <a:off x="1028700" y="358782"/>
            <a:ext cx="16502946" cy="928162"/>
          </a:xfrm>
          <a:prstGeom prst="rect">
            <a:avLst/>
          </a:prstGeom>
        </p:spPr>
        <p:txBody>
          <a:bodyPr lIns="0" tIns="0" rIns="0" bIns="0" rtlCol="0" anchor="t">
            <a:spAutoFit/>
          </a:bodyPr>
          <a:lstStyle/>
          <a:p>
            <a:pPr algn="ctr">
              <a:lnSpc>
                <a:spcPts val="6916"/>
              </a:lnSpc>
            </a:pPr>
            <a:r>
              <a:rPr lang="en-US" sz="6916" b="1" spc="-235" dirty="0">
                <a:solidFill>
                  <a:srgbClr val="2E2E2E"/>
                </a:solidFill>
                <a:latin typeface="Montserrat Bold"/>
                <a:ea typeface="Montserrat Bold"/>
                <a:cs typeface="Montserrat Bold"/>
                <a:sym typeface="Montserrat Bold"/>
              </a:rPr>
              <a:t>TRAINING &amp; PLACEMENT CELL</a:t>
            </a:r>
          </a:p>
        </p:txBody>
      </p:sp>
      <p:sp>
        <p:nvSpPr>
          <p:cNvPr id="10" name="TextBox 9">
            <a:extLst>
              <a:ext uri="{FF2B5EF4-FFF2-40B4-BE49-F238E27FC236}">
                <a16:creationId xmlns:a16="http://schemas.microsoft.com/office/drawing/2014/main" id="{5AC5E064-3C05-744E-FC57-C1B0B9E03AC1}"/>
              </a:ext>
            </a:extLst>
          </p:cNvPr>
          <p:cNvSpPr txBox="1"/>
          <p:nvPr/>
        </p:nvSpPr>
        <p:spPr>
          <a:xfrm>
            <a:off x="1600200" y="2063869"/>
            <a:ext cx="14833636" cy="7940635"/>
          </a:xfrm>
          <a:prstGeom prst="rect">
            <a:avLst/>
          </a:prstGeom>
          <a:noFill/>
        </p:spPr>
        <p:txBody>
          <a:bodyPr wrap="square">
            <a:spAutoFit/>
          </a:bodyPr>
          <a:lstStyle/>
          <a:p>
            <a:pPr marL="457200" indent="-457200">
              <a:buFont typeface="Wingdings" panose="05000000000000000000" pitchFamily="2" charset="2"/>
              <a:buChar char="q"/>
            </a:pPr>
            <a:r>
              <a:rPr lang="en-US" sz="3000" b="1" dirty="0"/>
              <a:t>Our Placement Achievements (2021–2025)</a:t>
            </a:r>
          </a:p>
          <a:p>
            <a:pPr marL="457200" indent="-457200">
              <a:buFont typeface="Wingdings" panose="05000000000000000000" pitchFamily="2" charset="2"/>
              <a:buChar char="§"/>
            </a:pPr>
            <a:r>
              <a:rPr lang="en-US" sz="3000" b="1" dirty="0"/>
              <a:t>2500+ Job Offers</a:t>
            </a:r>
            <a:r>
              <a:rPr lang="en-US" sz="3000" dirty="0"/>
              <a:t> in the last 5 years</a:t>
            </a:r>
          </a:p>
          <a:p>
            <a:pPr marL="457200" indent="-457200">
              <a:buFont typeface="Wingdings" panose="05000000000000000000" pitchFamily="2" charset="2"/>
              <a:buChar char="§"/>
            </a:pPr>
            <a:r>
              <a:rPr lang="en-US" sz="3000" b="1" dirty="0"/>
              <a:t>Average Package Growth:</a:t>
            </a:r>
            <a:endParaRPr lang="en-US" sz="3000" dirty="0"/>
          </a:p>
          <a:p>
            <a:pPr marL="914400" lvl="1" indent="-457200">
              <a:buFont typeface="Arial" panose="020B0604020202020204" pitchFamily="34" charset="0"/>
              <a:buChar char="•"/>
            </a:pPr>
            <a:r>
              <a:rPr lang="en-US" sz="3000" dirty="0"/>
              <a:t>2021 → ₹4.0 LPA</a:t>
            </a:r>
          </a:p>
          <a:p>
            <a:pPr marL="914400" lvl="1" indent="-457200">
              <a:buFont typeface="Arial" panose="020B0604020202020204" pitchFamily="34" charset="0"/>
              <a:buChar char="•"/>
            </a:pPr>
            <a:r>
              <a:rPr lang="en-US" sz="3000" dirty="0"/>
              <a:t>2025 → ₹5.0 LPA</a:t>
            </a:r>
          </a:p>
          <a:p>
            <a:pPr marL="914400" lvl="1" indent="-457200">
              <a:buFont typeface="Arial" panose="020B0604020202020204" pitchFamily="34" charset="0"/>
              <a:buChar char="•"/>
            </a:pPr>
            <a:r>
              <a:rPr lang="en-US" sz="3000" dirty="0"/>
              <a:t>2026 → ₹5.12 LPA</a:t>
            </a:r>
          </a:p>
          <a:p>
            <a:pPr marL="457200" indent="-457200">
              <a:buFont typeface="Wingdings" panose="05000000000000000000" pitchFamily="2" charset="2"/>
              <a:buChar char="§"/>
            </a:pPr>
            <a:r>
              <a:rPr lang="en-US" sz="3000" b="1" dirty="0"/>
              <a:t>Highest Package Achieved:</a:t>
            </a:r>
            <a:r>
              <a:rPr lang="en-US" sz="3000" dirty="0"/>
              <a:t> ₹61 LPA (2026)</a:t>
            </a:r>
          </a:p>
          <a:p>
            <a:pPr marL="457200" indent="-457200">
              <a:buFont typeface="Wingdings" panose="05000000000000000000" pitchFamily="2" charset="2"/>
              <a:buChar char="§"/>
            </a:pPr>
            <a:r>
              <a:rPr lang="en-US" sz="3000" b="1" dirty="0"/>
              <a:t>Companies Visiting:</a:t>
            </a:r>
            <a:r>
              <a:rPr lang="en-US" sz="3000" dirty="0"/>
              <a:t> 100+ every year </a:t>
            </a:r>
          </a:p>
          <a:p>
            <a:pPr marL="457200" indent="-457200">
              <a:buFont typeface="Wingdings" panose="05000000000000000000" pitchFamily="2" charset="2"/>
              <a:buChar char="§"/>
            </a:pPr>
            <a:r>
              <a:rPr lang="en-US" sz="3000" b="1" dirty="0"/>
              <a:t>Students Placed:</a:t>
            </a:r>
            <a:r>
              <a:rPr lang="en-US" sz="3000" dirty="0"/>
              <a:t> Consistently 350+ every year (568+ offers in 2026)</a:t>
            </a:r>
          </a:p>
          <a:p>
            <a:pPr marL="457200" indent="-457200">
              <a:buFont typeface="Wingdings" panose="05000000000000000000" pitchFamily="2" charset="2"/>
              <a:buChar char="§"/>
            </a:pPr>
            <a:r>
              <a:rPr lang="en-US" sz="3000" b="1" dirty="0"/>
              <a:t>Top Recruiters:</a:t>
            </a:r>
            <a:endParaRPr lang="en-US" sz="3000" dirty="0"/>
          </a:p>
          <a:p>
            <a:pPr marL="914400" lvl="1" indent="-457200">
              <a:buFont typeface="Arial" panose="020B0604020202020204" pitchFamily="34" charset="0"/>
              <a:buChar char="•"/>
            </a:pPr>
            <a:r>
              <a:rPr lang="en-US" sz="3000" b="1" dirty="0"/>
              <a:t>Emerson, TATA Motors,, TCS, Wipro, Thyssenkrupp, Mahindra &amp; Mahindra, L&amp;T, IBM, Reliance, </a:t>
            </a:r>
            <a:r>
              <a:rPr lang="en-US" sz="3000" b="1" dirty="0" err="1"/>
              <a:t>Algoquant</a:t>
            </a:r>
            <a:r>
              <a:rPr lang="en-US" sz="3000" b="1" dirty="0"/>
              <a:t>, </a:t>
            </a:r>
            <a:r>
              <a:rPr lang="en-US" sz="3000" b="1" dirty="0" err="1"/>
              <a:t>Zoho</a:t>
            </a:r>
            <a:r>
              <a:rPr lang="en-US" sz="3000" dirty="0"/>
              <a:t> and many more leading MNCs.</a:t>
            </a:r>
          </a:p>
          <a:p>
            <a:pPr marL="457200" indent="-457200">
              <a:buFont typeface="Wingdings" panose="05000000000000000000" pitchFamily="2" charset="2"/>
              <a:buChar char="§"/>
            </a:pPr>
            <a:r>
              <a:rPr lang="en-US" sz="3000" b="1" dirty="0"/>
              <a:t>Placement Trend:</a:t>
            </a:r>
            <a:r>
              <a:rPr lang="en-US" sz="3000" dirty="0"/>
              <a:t> Strong and consistent upward growth</a:t>
            </a:r>
          </a:p>
          <a:p>
            <a:endParaRPr lang="en-US" sz="3000" dirty="0"/>
          </a:p>
          <a:p>
            <a:r>
              <a:rPr lang="en-US" sz="3000" b="1" i="1" dirty="0"/>
              <a:t>“Our students are excelling in top global companies with excellent packages, proving the strength of our academic and placement ecosystem.”</a:t>
            </a:r>
            <a:endParaRPr lang="en-US" sz="3000" b="1" dirty="0"/>
          </a:p>
          <a:p>
            <a:endParaRPr lang="en-IN" sz="3000" dirty="0"/>
          </a:p>
        </p:txBody>
      </p:sp>
    </p:spTree>
    <p:extLst>
      <p:ext uri="{BB962C8B-B14F-4D97-AF65-F5344CB8AC3E}">
        <p14:creationId xmlns:p14="http://schemas.microsoft.com/office/powerpoint/2010/main" val="2028528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EFEC"/>
        </a:solidFill>
        <a:effectLst/>
      </p:bgPr>
    </p:bg>
    <p:spTree>
      <p:nvGrpSpPr>
        <p:cNvPr id="1" name="">
          <a:extLst>
            <a:ext uri="{FF2B5EF4-FFF2-40B4-BE49-F238E27FC236}">
              <a16:creationId xmlns:a16="http://schemas.microsoft.com/office/drawing/2014/main" id="{AD9E2320-4BE6-2002-983A-E6C1638551A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2E67290-604D-243D-DE37-958ACF62C1D8}"/>
              </a:ext>
            </a:extLst>
          </p:cNvPr>
          <p:cNvSpPr/>
          <p:nvPr/>
        </p:nvSpPr>
        <p:spPr>
          <a:xfrm rot="1415601">
            <a:off x="11178872" y="-8647208"/>
            <a:ext cx="15132390" cy="15132390"/>
          </a:xfrm>
          <a:custGeom>
            <a:avLst/>
            <a:gdLst/>
            <a:ahLst/>
            <a:cxnLst/>
            <a:rect l="l" t="t" r="r" b="b"/>
            <a:pathLst>
              <a:path w="15132390" h="15132390">
                <a:moveTo>
                  <a:pt x="0" y="0"/>
                </a:moveTo>
                <a:lnTo>
                  <a:pt x="15132390" y="0"/>
                </a:lnTo>
                <a:lnTo>
                  <a:pt x="15132390" y="15132390"/>
                </a:lnTo>
                <a:lnTo>
                  <a:pt x="0" y="15132390"/>
                </a:lnTo>
                <a:lnTo>
                  <a:pt x="0"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1B001149-6EFD-B3CB-2D19-0CD435F3C5D2}"/>
              </a:ext>
            </a:extLst>
          </p:cNvPr>
          <p:cNvSpPr/>
          <p:nvPr/>
        </p:nvSpPr>
        <p:spPr>
          <a:xfrm rot="-9975434">
            <a:off x="3511542" y="6425317"/>
            <a:ext cx="12269998" cy="12269998"/>
          </a:xfrm>
          <a:custGeom>
            <a:avLst/>
            <a:gdLst/>
            <a:ahLst/>
            <a:cxnLst/>
            <a:rect l="l" t="t" r="r" b="b"/>
            <a:pathLst>
              <a:path w="12269998" h="12269998">
                <a:moveTo>
                  <a:pt x="0" y="0"/>
                </a:moveTo>
                <a:lnTo>
                  <a:pt x="12269998" y="0"/>
                </a:lnTo>
                <a:lnTo>
                  <a:pt x="12269998" y="12269998"/>
                </a:lnTo>
                <a:lnTo>
                  <a:pt x="0" y="12269998"/>
                </a:lnTo>
                <a:lnTo>
                  <a:pt x="0"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EABF2070-B189-5A6C-BA2B-3D2707E0685B}"/>
              </a:ext>
            </a:extLst>
          </p:cNvPr>
          <p:cNvSpPr/>
          <p:nvPr/>
        </p:nvSpPr>
        <p:spPr>
          <a:xfrm rot="-1795323">
            <a:off x="-8621604" y="-11367032"/>
            <a:ext cx="16539127" cy="16539127"/>
          </a:xfrm>
          <a:custGeom>
            <a:avLst/>
            <a:gdLst/>
            <a:ahLst/>
            <a:cxnLst/>
            <a:rect l="l" t="t" r="r" b="b"/>
            <a:pathLst>
              <a:path w="16539127" h="16539127">
                <a:moveTo>
                  <a:pt x="0" y="0"/>
                </a:moveTo>
                <a:lnTo>
                  <a:pt x="16539128" y="0"/>
                </a:lnTo>
                <a:lnTo>
                  <a:pt x="16539128" y="16539127"/>
                </a:lnTo>
                <a:lnTo>
                  <a:pt x="0" y="16539127"/>
                </a:lnTo>
                <a:lnTo>
                  <a:pt x="0" y="0"/>
                </a:lnTo>
                <a:close/>
              </a:path>
            </a:pathLst>
          </a:custGeom>
          <a:blipFill>
            <a:blip r:embed="rId6">
              <a:alphaModFix amt="47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AutoShape 5">
            <a:extLst>
              <a:ext uri="{FF2B5EF4-FFF2-40B4-BE49-F238E27FC236}">
                <a16:creationId xmlns:a16="http://schemas.microsoft.com/office/drawing/2014/main" id="{C19D8DC7-07DD-8EF1-C92D-28734FBA0888}"/>
              </a:ext>
            </a:extLst>
          </p:cNvPr>
          <p:cNvSpPr/>
          <p:nvPr/>
        </p:nvSpPr>
        <p:spPr>
          <a:xfrm flipV="1">
            <a:off x="7744025" y="9831912"/>
            <a:ext cx="0" cy="407463"/>
          </a:xfrm>
          <a:prstGeom prst="line">
            <a:avLst/>
          </a:prstGeom>
          <a:ln w="38100" cap="flat">
            <a:solidFill>
              <a:srgbClr val="FAFAFA"/>
            </a:solidFill>
            <a:prstDash val="solid"/>
            <a:headEnd type="none" w="sm" len="sm"/>
            <a:tailEnd type="none" w="sm" len="sm"/>
          </a:ln>
        </p:spPr>
        <p:txBody>
          <a:bodyPr/>
          <a:lstStyle/>
          <a:p>
            <a:endParaRPr lang="en-US"/>
          </a:p>
        </p:txBody>
      </p:sp>
      <p:sp>
        <p:nvSpPr>
          <p:cNvPr id="6" name="TextBox 6">
            <a:extLst>
              <a:ext uri="{FF2B5EF4-FFF2-40B4-BE49-F238E27FC236}">
                <a16:creationId xmlns:a16="http://schemas.microsoft.com/office/drawing/2014/main" id="{65D655BC-E6DD-2310-1633-9C7533AF825C}"/>
              </a:ext>
            </a:extLst>
          </p:cNvPr>
          <p:cNvSpPr txBox="1"/>
          <p:nvPr/>
        </p:nvSpPr>
        <p:spPr>
          <a:xfrm>
            <a:off x="1028700" y="358782"/>
            <a:ext cx="16502946" cy="928162"/>
          </a:xfrm>
          <a:prstGeom prst="rect">
            <a:avLst/>
          </a:prstGeom>
        </p:spPr>
        <p:txBody>
          <a:bodyPr lIns="0" tIns="0" rIns="0" bIns="0" rtlCol="0" anchor="t">
            <a:spAutoFit/>
          </a:bodyPr>
          <a:lstStyle/>
          <a:p>
            <a:pPr algn="ctr">
              <a:lnSpc>
                <a:spcPts val="6916"/>
              </a:lnSpc>
            </a:pPr>
            <a:r>
              <a:rPr lang="en-US" sz="6916" b="1" spc="-235" dirty="0">
                <a:solidFill>
                  <a:srgbClr val="2E2E2E"/>
                </a:solidFill>
                <a:latin typeface="Montserrat Bold"/>
                <a:ea typeface="Montserrat Bold"/>
                <a:cs typeface="Montserrat Bold"/>
                <a:sym typeface="Montserrat Bold"/>
              </a:rPr>
              <a:t>TRAINING &amp; PLACEMENT CELL</a:t>
            </a:r>
          </a:p>
        </p:txBody>
      </p:sp>
      <p:sp>
        <p:nvSpPr>
          <p:cNvPr id="10" name="TextBox 9">
            <a:extLst>
              <a:ext uri="{FF2B5EF4-FFF2-40B4-BE49-F238E27FC236}">
                <a16:creationId xmlns:a16="http://schemas.microsoft.com/office/drawing/2014/main" id="{5AC5E064-3C05-744E-FC57-C1B0B9E03AC1}"/>
              </a:ext>
            </a:extLst>
          </p:cNvPr>
          <p:cNvSpPr txBox="1"/>
          <p:nvPr/>
        </p:nvSpPr>
        <p:spPr>
          <a:xfrm>
            <a:off x="1600199" y="2063869"/>
            <a:ext cx="15087579" cy="6432530"/>
          </a:xfrm>
          <a:prstGeom prst="rect">
            <a:avLst/>
          </a:prstGeom>
          <a:noFill/>
        </p:spPr>
        <p:txBody>
          <a:bodyPr wrap="square">
            <a:spAutoFit/>
          </a:bodyPr>
          <a:lstStyle/>
          <a:p>
            <a:pPr marL="571500" indent="-571500">
              <a:buFont typeface="Wingdings" panose="05000000000000000000" pitchFamily="2" charset="2"/>
              <a:buChar char="q"/>
            </a:pPr>
            <a:r>
              <a:rPr lang="en-US" sz="4400" b="1" dirty="0"/>
              <a:t>Placement Policy</a:t>
            </a:r>
          </a:p>
          <a:p>
            <a:pPr marL="457200" indent="-457200">
              <a:buFont typeface="Arial" panose="020B0604020202020204" pitchFamily="34" charset="0"/>
              <a:buChar char="•"/>
            </a:pPr>
            <a:r>
              <a:rPr lang="en-US" sz="4400" dirty="0"/>
              <a:t>Every student is allowed </a:t>
            </a:r>
            <a:r>
              <a:rPr lang="en-US" sz="4400" b="1" dirty="0"/>
              <a:t>one placement opportunity</a:t>
            </a:r>
            <a:r>
              <a:rPr lang="en-US" sz="4400" dirty="0"/>
              <a:t>. </a:t>
            </a:r>
          </a:p>
          <a:p>
            <a:pPr marL="457200" indent="-457200">
              <a:buFont typeface="Arial" panose="020B0604020202020204" pitchFamily="34" charset="0"/>
              <a:buChar char="•"/>
            </a:pPr>
            <a:r>
              <a:rPr lang="en-US" sz="4400" dirty="0"/>
              <a:t>Once placed, a student may participate in another company’s recruitment process </a:t>
            </a:r>
            <a:r>
              <a:rPr lang="en-US" sz="4400" b="1" dirty="0"/>
              <a:t>only if the new company offers a package at least twice the package of the previous placement</a:t>
            </a:r>
            <a:r>
              <a:rPr lang="en-US" sz="4400" dirty="0"/>
              <a:t>. </a:t>
            </a:r>
          </a:p>
          <a:p>
            <a:pPr marL="457200" indent="-457200">
              <a:buFont typeface="Arial" panose="020B0604020202020204" pitchFamily="34" charset="0"/>
              <a:buChar char="•"/>
            </a:pPr>
            <a:r>
              <a:rPr lang="en-US" sz="4400" b="1" dirty="0"/>
              <a:t>Internship + PPO:</a:t>
            </a:r>
            <a:r>
              <a:rPr lang="en-US" sz="4400" dirty="0"/>
              <a:t> PPO will be considered as placement. </a:t>
            </a:r>
          </a:p>
          <a:p>
            <a:pPr marL="457200" indent="-457200">
              <a:buFont typeface="Arial" panose="020B0604020202020204" pitchFamily="34" charset="0"/>
              <a:buChar char="•"/>
            </a:pPr>
            <a:r>
              <a:rPr lang="en-US" sz="4400" b="1" dirty="0"/>
              <a:t>Internship + Placement:</a:t>
            </a:r>
            <a:r>
              <a:rPr lang="en-US" sz="4400" dirty="0"/>
              <a:t> Students may avail one internship and one placement opportunity.</a:t>
            </a:r>
          </a:p>
          <a:p>
            <a:endParaRPr lang="en-US" sz="3000" b="1" dirty="0"/>
          </a:p>
          <a:p>
            <a:endParaRPr lang="en-IN" sz="3000" dirty="0"/>
          </a:p>
        </p:txBody>
      </p:sp>
    </p:spTree>
    <p:extLst>
      <p:ext uri="{BB962C8B-B14F-4D97-AF65-F5344CB8AC3E}">
        <p14:creationId xmlns:p14="http://schemas.microsoft.com/office/powerpoint/2010/main" val="3823023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EFEC"/>
        </a:solidFill>
        <a:effectLst/>
      </p:bgPr>
    </p:bg>
    <p:spTree>
      <p:nvGrpSpPr>
        <p:cNvPr id="1" name="">
          <a:extLst>
            <a:ext uri="{FF2B5EF4-FFF2-40B4-BE49-F238E27FC236}">
              <a16:creationId xmlns:a16="http://schemas.microsoft.com/office/drawing/2014/main" id="{2F6C7081-7C23-3D20-B882-1C59800ECE0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51F17BF-34CE-C822-C748-14779410AB07}"/>
              </a:ext>
            </a:extLst>
          </p:cNvPr>
          <p:cNvSpPr/>
          <p:nvPr/>
        </p:nvSpPr>
        <p:spPr>
          <a:xfrm rot="1415601">
            <a:off x="11178872" y="-8647208"/>
            <a:ext cx="15132390" cy="15132390"/>
          </a:xfrm>
          <a:custGeom>
            <a:avLst/>
            <a:gdLst/>
            <a:ahLst/>
            <a:cxnLst/>
            <a:rect l="l" t="t" r="r" b="b"/>
            <a:pathLst>
              <a:path w="15132390" h="15132390">
                <a:moveTo>
                  <a:pt x="0" y="0"/>
                </a:moveTo>
                <a:lnTo>
                  <a:pt x="15132390" y="0"/>
                </a:lnTo>
                <a:lnTo>
                  <a:pt x="15132390" y="15132390"/>
                </a:lnTo>
                <a:lnTo>
                  <a:pt x="0" y="15132390"/>
                </a:lnTo>
                <a:lnTo>
                  <a:pt x="0"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D42E6525-71B4-9A77-AF1C-6A6DC5B87D0A}"/>
              </a:ext>
            </a:extLst>
          </p:cNvPr>
          <p:cNvSpPr/>
          <p:nvPr/>
        </p:nvSpPr>
        <p:spPr>
          <a:xfrm rot="-9975434">
            <a:off x="3511542" y="6425317"/>
            <a:ext cx="12269998" cy="12269998"/>
          </a:xfrm>
          <a:custGeom>
            <a:avLst/>
            <a:gdLst/>
            <a:ahLst/>
            <a:cxnLst/>
            <a:rect l="l" t="t" r="r" b="b"/>
            <a:pathLst>
              <a:path w="12269998" h="12269998">
                <a:moveTo>
                  <a:pt x="0" y="0"/>
                </a:moveTo>
                <a:lnTo>
                  <a:pt x="12269998" y="0"/>
                </a:lnTo>
                <a:lnTo>
                  <a:pt x="12269998" y="12269998"/>
                </a:lnTo>
                <a:lnTo>
                  <a:pt x="0" y="12269998"/>
                </a:lnTo>
                <a:lnTo>
                  <a:pt x="0"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DEF7AAA5-53CA-B1D7-73A3-EDEE3CFF7D01}"/>
              </a:ext>
            </a:extLst>
          </p:cNvPr>
          <p:cNvSpPr/>
          <p:nvPr/>
        </p:nvSpPr>
        <p:spPr>
          <a:xfrm rot="-1795323">
            <a:off x="-8621604" y="-11367032"/>
            <a:ext cx="16539127" cy="16539127"/>
          </a:xfrm>
          <a:custGeom>
            <a:avLst/>
            <a:gdLst/>
            <a:ahLst/>
            <a:cxnLst/>
            <a:rect l="l" t="t" r="r" b="b"/>
            <a:pathLst>
              <a:path w="16539127" h="16539127">
                <a:moveTo>
                  <a:pt x="0" y="0"/>
                </a:moveTo>
                <a:lnTo>
                  <a:pt x="16539128" y="0"/>
                </a:lnTo>
                <a:lnTo>
                  <a:pt x="16539128" y="16539127"/>
                </a:lnTo>
                <a:lnTo>
                  <a:pt x="0" y="16539127"/>
                </a:lnTo>
                <a:lnTo>
                  <a:pt x="0" y="0"/>
                </a:lnTo>
                <a:close/>
              </a:path>
            </a:pathLst>
          </a:custGeom>
          <a:blipFill>
            <a:blip r:embed="rId6">
              <a:alphaModFix amt="47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AutoShape 5">
            <a:extLst>
              <a:ext uri="{FF2B5EF4-FFF2-40B4-BE49-F238E27FC236}">
                <a16:creationId xmlns:a16="http://schemas.microsoft.com/office/drawing/2014/main" id="{392733A1-6A8A-DA56-1AED-11B0738FB11B}"/>
              </a:ext>
            </a:extLst>
          </p:cNvPr>
          <p:cNvSpPr/>
          <p:nvPr/>
        </p:nvSpPr>
        <p:spPr>
          <a:xfrm flipV="1">
            <a:off x="7744025" y="9831912"/>
            <a:ext cx="0" cy="407463"/>
          </a:xfrm>
          <a:prstGeom prst="line">
            <a:avLst/>
          </a:prstGeom>
          <a:ln w="38100" cap="flat">
            <a:solidFill>
              <a:srgbClr val="FAFAFA"/>
            </a:solidFill>
            <a:prstDash val="solid"/>
            <a:headEnd type="none" w="sm" len="sm"/>
            <a:tailEnd type="none" w="sm" len="sm"/>
          </a:ln>
        </p:spPr>
        <p:txBody>
          <a:bodyPr/>
          <a:lstStyle/>
          <a:p>
            <a:endParaRPr lang="en-US"/>
          </a:p>
        </p:txBody>
      </p:sp>
      <p:sp>
        <p:nvSpPr>
          <p:cNvPr id="6" name="TextBox 6">
            <a:extLst>
              <a:ext uri="{FF2B5EF4-FFF2-40B4-BE49-F238E27FC236}">
                <a16:creationId xmlns:a16="http://schemas.microsoft.com/office/drawing/2014/main" id="{9F0F5476-5494-EA5D-A5FE-3CD8E7D6172F}"/>
              </a:ext>
            </a:extLst>
          </p:cNvPr>
          <p:cNvSpPr txBox="1"/>
          <p:nvPr/>
        </p:nvSpPr>
        <p:spPr>
          <a:xfrm>
            <a:off x="1028700" y="358782"/>
            <a:ext cx="16502946" cy="928162"/>
          </a:xfrm>
          <a:prstGeom prst="rect">
            <a:avLst/>
          </a:prstGeom>
        </p:spPr>
        <p:txBody>
          <a:bodyPr lIns="0" tIns="0" rIns="0" bIns="0" rtlCol="0" anchor="t">
            <a:spAutoFit/>
          </a:bodyPr>
          <a:lstStyle/>
          <a:p>
            <a:pPr algn="ctr">
              <a:lnSpc>
                <a:spcPts val="6916"/>
              </a:lnSpc>
            </a:pPr>
            <a:r>
              <a:rPr lang="en-US" sz="6916" b="1" spc="-235" dirty="0">
                <a:solidFill>
                  <a:srgbClr val="2E2E2E"/>
                </a:solidFill>
                <a:latin typeface="Montserrat Bold"/>
                <a:ea typeface="Montserrat Bold"/>
                <a:cs typeface="Montserrat Bold"/>
                <a:sym typeface="Montserrat Bold"/>
              </a:rPr>
              <a:t>TRAINING &amp; PLACEMENT CELL</a:t>
            </a:r>
          </a:p>
        </p:txBody>
      </p:sp>
      <p:sp>
        <p:nvSpPr>
          <p:cNvPr id="10" name="TextBox 9">
            <a:extLst>
              <a:ext uri="{FF2B5EF4-FFF2-40B4-BE49-F238E27FC236}">
                <a16:creationId xmlns:a16="http://schemas.microsoft.com/office/drawing/2014/main" id="{C84B74DA-B3F8-6CF7-4EE7-20D8B24C2B58}"/>
              </a:ext>
            </a:extLst>
          </p:cNvPr>
          <p:cNvSpPr txBox="1"/>
          <p:nvPr/>
        </p:nvSpPr>
        <p:spPr>
          <a:xfrm>
            <a:off x="1600200" y="2063869"/>
            <a:ext cx="14833636" cy="8402300"/>
          </a:xfrm>
          <a:prstGeom prst="rect">
            <a:avLst/>
          </a:prstGeom>
          <a:noFill/>
        </p:spPr>
        <p:txBody>
          <a:bodyPr wrap="square">
            <a:spAutoFit/>
          </a:bodyPr>
          <a:lstStyle/>
          <a:p>
            <a:r>
              <a:rPr lang="en-US" sz="3000" b="1" dirty="0"/>
              <a:t>Placement Preparation Roadmap (Year-wise)</a:t>
            </a:r>
          </a:p>
          <a:p>
            <a:pPr marL="457200" indent="-457200">
              <a:buFont typeface="Arial" panose="020B0604020202020204" pitchFamily="34" charset="0"/>
              <a:buChar char="•"/>
            </a:pPr>
            <a:r>
              <a:rPr lang="en-US" sz="3000" b="1" dirty="0"/>
              <a:t>First Year:</a:t>
            </a:r>
            <a:endParaRPr lang="en-US" sz="3000" dirty="0"/>
          </a:p>
          <a:p>
            <a:pPr marL="914400" lvl="1" indent="-457200">
              <a:buFont typeface="Courier New" panose="02070309020205020404" pitchFamily="49" charset="0"/>
              <a:buChar char="o"/>
            </a:pPr>
            <a:r>
              <a:rPr lang="en-US" sz="3000" dirty="0"/>
              <a:t>Focus on strong fundamentals (C, Python, Mathematics, Core Subjects).</a:t>
            </a:r>
          </a:p>
          <a:p>
            <a:pPr marL="914400" lvl="1" indent="-457200">
              <a:buFont typeface="Courier New" panose="02070309020205020404" pitchFamily="49" charset="0"/>
              <a:buChar char="o"/>
            </a:pPr>
            <a:r>
              <a:rPr lang="en-US" sz="3000" dirty="0"/>
              <a:t>Improve English &amp; communication skills.</a:t>
            </a:r>
          </a:p>
          <a:p>
            <a:pPr marL="914400" lvl="1" indent="-457200">
              <a:buFont typeface="Courier New" panose="02070309020205020404" pitchFamily="49" charset="0"/>
              <a:buChar char="o"/>
            </a:pPr>
            <a:r>
              <a:rPr lang="en-US" sz="3000" dirty="0"/>
              <a:t>Develop discipline, consistency, and good academic habits.</a:t>
            </a:r>
          </a:p>
          <a:p>
            <a:pPr marL="457200" indent="-457200">
              <a:buFont typeface="Arial" panose="020B0604020202020204" pitchFamily="34" charset="0"/>
              <a:buChar char="•"/>
            </a:pPr>
            <a:r>
              <a:rPr lang="en-US" sz="3000" b="1" dirty="0"/>
              <a:t>Second Year:</a:t>
            </a:r>
            <a:endParaRPr lang="en-US" sz="3000" dirty="0"/>
          </a:p>
          <a:p>
            <a:pPr marL="914400" lvl="1" indent="-457200">
              <a:buFont typeface="Courier New" panose="02070309020205020404" pitchFamily="49" charset="0"/>
              <a:buChar char="o"/>
            </a:pPr>
            <a:r>
              <a:rPr lang="en-US" sz="3000" dirty="0"/>
              <a:t>Build technical skills through projects &amp; coding practice.</a:t>
            </a:r>
          </a:p>
          <a:p>
            <a:pPr marL="914400" lvl="1" indent="-457200">
              <a:buFont typeface="Courier New" panose="02070309020205020404" pitchFamily="49" charset="0"/>
              <a:buChar char="o"/>
            </a:pPr>
            <a:r>
              <a:rPr lang="en-US" sz="3000" dirty="0"/>
              <a:t>Participate in hackathons, workshops, and online courses.</a:t>
            </a:r>
          </a:p>
          <a:p>
            <a:pPr marL="914400" lvl="1" indent="-457200">
              <a:buFont typeface="Courier New" panose="02070309020205020404" pitchFamily="49" charset="0"/>
              <a:buChar char="o"/>
            </a:pPr>
            <a:r>
              <a:rPr lang="en-US" sz="3000" dirty="0"/>
              <a:t>Explore domains like Web, AI, Data Science, or Cloud.</a:t>
            </a:r>
          </a:p>
          <a:p>
            <a:pPr marL="457200" indent="-457200">
              <a:buFont typeface="Arial" panose="020B0604020202020204" pitchFamily="34" charset="0"/>
              <a:buChar char="•"/>
            </a:pPr>
            <a:r>
              <a:rPr lang="en-US" sz="3000" b="1" dirty="0"/>
              <a:t>Third Year:</a:t>
            </a:r>
            <a:endParaRPr lang="en-US" sz="3000" dirty="0"/>
          </a:p>
          <a:p>
            <a:pPr marL="914400" lvl="1" indent="-457200">
              <a:buFont typeface="Courier New" panose="02070309020205020404" pitchFamily="49" charset="0"/>
              <a:buChar char="o"/>
            </a:pPr>
            <a:r>
              <a:rPr lang="en-US" sz="3000" dirty="0"/>
              <a:t>Resume building &amp; LinkedIn/GitHub profiles.</a:t>
            </a:r>
          </a:p>
          <a:p>
            <a:pPr marL="914400" lvl="1" indent="-457200">
              <a:buFont typeface="Courier New" panose="02070309020205020404" pitchFamily="49" charset="0"/>
              <a:buChar char="o"/>
            </a:pPr>
            <a:r>
              <a:rPr lang="en-US" sz="3000" dirty="0"/>
              <a:t>Apply for internships &amp; participate in mock interviews.</a:t>
            </a:r>
          </a:p>
          <a:p>
            <a:pPr marL="914400" lvl="1" indent="-457200">
              <a:buFont typeface="Courier New" panose="02070309020205020404" pitchFamily="49" charset="0"/>
              <a:buChar char="o"/>
            </a:pPr>
            <a:r>
              <a:rPr lang="en-US" sz="3000" dirty="0"/>
              <a:t>Strengthen aptitude and core technical subjects.</a:t>
            </a:r>
          </a:p>
          <a:p>
            <a:pPr marL="457200" indent="-457200">
              <a:buFont typeface="Arial" panose="020B0604020202020204" pitchFamily="34" charset="0"/>
              <a:buChar char="•"/>
            </a:pPr>
            <a:r>
              <a:rPr lang="en-US" sz="3000" b="1" dirty="0"/>
              <a:t>Fourth Year:</a:t>
            </a:r>
            <a:endParaRPr lang="en-US" sz="3000" dirty="0"/>
          </a:p>
          <a:p>
            <a:pPr marL="914400" lvl="1" indent="-457200">
              <a:buFont typeface="Courier New" panose="02070309020205020404" pitchFamily="49" charset="0"/>
              <a:buChar char="o"/>
            </a:pPr>
            <a:r>
              <a:rPr lang="en-US" sz="3000" dirty="0"/>
              <a:t>Company-specific training &amp; interview preparation.</a:t>
            </a:r>
          </a:p>
          <a:p>
            <a:pPr marL="914400" lvl="1" indent="-457200">
              <a:buFont typeface="Courier New" panose="02070309020205020404" pitchFamily="49" charset="0"/>
              <a:buChar char="o"/>
            </a:pPr>
            <a:r>
              <a:rPr lang="en-US" sz="3000" dirty="0"/>
              <a:t>Placement drives &amp; final internships.</a:t>
            </a:r>
          </a:p>
          <a:p>
            <a:pPr marL="914400" lvl="1" indent="-457200">
              <a:buFont typeface="Courier New" panose="02070309020205020404" pitchFamily="49" charset="0"/>
              <a:buChar char="o"/>
            </a:pPr>
            <a:r>
              <a:rPr lang="en-US" sz="3000" dirty="0"/>
              <a:t>Confidence, time management, and adaptability.</a:t>
            </a:r>
          </a:p>
          <a:p>
            <a:pPr marL="457200" indent="-457200">
              <a:buFont typeface="Arial" panose="020B0604020202020204" pitchFamily="34" charset="0"/>
              <a:buChar char="•"/>
            </a:pPr>
            <a:endParaRPr lang="en-IN" sz="3000" dirty="0"/>
          </a:p>
        </p:txBody>
      </p:sp>
    </p:spTree>
    <p:extLst>
      <p:ext uri="{BB962C8B-B14F-4D97-AF65-F5344CB8AC3E}">
        <p14:creationId xmlns:p14="http://schemas.microsoft.com/office/powerpoint/2010/main" val="1505120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EFEC"/>
        </a:solidFill>
        <a:effectLst/>
      </p:bgPr>
    </p:bg>
    <p:spTree>
      <p:nvGrpSpPr>
        <p:cNvPr id="1" name="">
          <a:extLst>
            <a:ext uri="{FF2B5EF4-FFF2-40B4-BE49-F238E27FC236}">
              <a16:creationId xmlns:a16="http://schemas.microsoft.com/office/drawing/2014/main" id="{D31CD0B5-4F7D-E99B-2893-B14F12EF5EF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7ED5F55-58F5-B41E-33B9-79779CBBF753}"/>
              </a:ext>
            </a:extLst>
          </p:cNvPr>
          <p:cNvSpPr/>
          <p:nvPr/>
        </p:nvSpPr>
        <p:spPr>
          <a:xfrm rot="1415601">
            <a:off x="11178872" y="-8647208"/>
            <a:ext cx="15132390" cy="15132390"/>
          </a:xfrm>
          <a:custGeom>
            <a:avLst/>
            <a:gdLst/>
            <a:ahLst/>
            <a:cxnLst/>
            <a:rect l="l" t="t" r="r" b="b"/>
            <a:pathLst>
              <a:path w="15132390" h="15132390">
                <a:moveTo>
                  <a:pt x="0" y="0"/>
                </a:moveTo>
                <a:lnTo>
                  <a:pt x="15132390" y="0"/>
                </a:lnTo>
                <a:lnTo>
                  <a:pt x="15132390" y="15132390"/>
                </a:lnTo>
                <a:lnTo>
                  <a:pt x="0" y="15132390"/>
                </a:lnTo>
                <a:lnTo>
                  <a:pt x="0"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05F33C28-2A5A-CAF2-F987-7421F544179A}"/>
              </a:ext>
            </a:extLst>
          </p:cNvPr>
          <p:cNvSpPr/>
          <p:nvPr/>
        </p:nvSpPr>
        <p:spPr>
          <a:xfrm rot="-9975434">
            <a:off x="3511542" y="6425317"/>
            <a:ext cx="12269998" cy="12269998"/>
          </a:xfrm>
          <a:custGeom>
            <a:avLst/>
            <a:gdLst/>
            <a:ahLst/>
            <a:cxnLst/>
            <a:rect l="l" t="t" r="r" b="b"/>
            <a:pathLst>
              <a:path w="12269998" h="12269998">
                <a:moveTo>
                  <a:pt x="0" y="0"/>
                </a:moveTo>
                <a:lnTo>
                  <a:pt x="12269998" y="0"/>
                </a:lnTo>
                <a:lnTo>
                  <a:pt x="12269998" y="12269998"/>
                </a:lnTo>
                <a:lnTo>
                  <a:pt x="0" y="12269998"/>
                </a:lnTo>
                <a:lnTo>
                  <a:pt x="0"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A4831020-9A60-3470-1AE7-B0CFB763FD24}"/>
              </a:ext>
            </a:extLst>
          </p:cNvPr>
          <p:cNvSpPr/>
          <p:nvPr/>
        </p:nvSpPr>
        <p:spPr>
          <a:xfrm rot="-1795323">
            <a:off x="-8621604" y="-11367032"/>
            <a:ext cx="16539127" cy="16539127"/>
          </a:xfrm>
          <a:custGeom>
            <a:avLst/>
            <a:gdLst/>
            <a:ahLst/>
            <a:cxnLst/>
            <a:rect l="l" t="t" r="r" b="b"/>
            <a:pathLst>
              <a:path w="16539127" h="16539127">
                <a:moveTo>
                  <a:pt x="0" y="0"/>
                </a:moveTo>
                <a:lnTo>
                  <a:pt x="16539128" y="0"/>
                </a:lnTo>
                <a:lnTo>
                  <a:pt x="16539128" y="16539127"/>
                </a:lnTo>
                <a:lnTo>
                  <a:pt x="0" y="16539127"/>
                </a:lnTo>
                <a:lnTo>
                  <a:pt x="0" y="0"/>
                </a:lnTo>
                <a:close/>
              </a:path>
            </a:pathLst>
          </a:custGeom>
          <a:blipFill>
            <a:blip r:embed="rId6">
              <a:alphaModFix amt="47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AutoShape 5">
            <a:extLst>
              <a:ext uri="{FF2B5EF4-FFF2-40B4-BE49-F238E27FC236}">
                <a16:creationId xmlns:a16="http://schemas.microsoft.com/office/drawing/2014/main" id="{214DC353-4AC4-BF38-AF2F-603B3E929A27}"/>
              </a:ext>
            </a:extLst>
          </p:cNvPr>
          <p:cNvSpPr/>
          <p:nvPr/>
        </p:nvSpPr>
        <p:spPr>
          <a:xfrm flipV="1">
            <a:off x="7744025" y="9831912"/>
            <a:ext cx="0" cy="407463"/>
          </a:xfrm>
          <a:prstGeom prst="line">
            <a:avLst/>
          </a:prstGeom>
          <a:ln w="38100" cap="flat">
            <a:solidFill>
              <a:srgbClr val="FAFAFA"/>
            </a:solidFill>
            <a:prstDash val="solid"/>
            <a:headEnd type="none" w="sm" len="sm"/>
            <a:tailEnd type="none" w="sm" len="sm"/>
          </a:ln>
        </p:spPr>
        <p:txBody>
          <a:bodyPr/>
          <a:lstStyle/>
          <a:p>
            <a:endParaRPr lang="en-US"/>
          </a:p>
        </p:txBody>
      </p:sp>
      <p:sp>
        <p:nvSpPr>
          <p:cNvPr id="6" name="TextBox 6">
            <a:extLst>
              <a:ext uri="{FF2B5EF4-FFF2-40B4-BE49-F238E27FC236}">
                <a16:creationId xmlns:a16="http://schemas.microsoft.com/office/drawing/2014/main" id="{B42883C8-EB56-BD6F-CB80-AE6C3A1234C4}"/>
              </a:ext>
            </a:extLst>
          </p:cNvPr>
          <p:cNvSpPr txBox="1"/>
          <p:nvPr/>
        </p:nvSpPr>
        <p:spPr>
          <a:xfrm>
            <a:off x="1028700" y="358782"/>
            <a:ext cx="16502946" cy="928162"/>
          </a:xfrm>
          <a:prstGeom prst="rect">
            <a:avLst/>
          </a:prstGeom>
        </p:spPr>
        <p:txBody>
          <a:bodyPr lIns="0" tIns="0" rIns="0" bIns="0" rtlCol="0" anchor="t">
            <a:spAutoFit/>
          </a:bodyPr>
          <a:lstStyle/>
          <a:p>
            <a:pPr algn="ctr">
              <a:lnSpc>
                <a:spcPts val="6916"/>
              </a:lnSpc>
            </a:pPr>
            <a:r>
              <a:rPr lang="en-US" sz="6916" b="1" spc="-235" dirty="0">
                <a:solidFill>
                  <a:srgbClr val="2E2E2E"/>
                </a:solidFill>
                <a:latin typeface="Montserrat Bold"/>
                <a:ea typeface="Montserrat Bold"/>
                <a:cs typeface="Montserrat Bold"/>
                <a:sym typeface="Montserrat Bold"/>
              </a:rPr>
              <a:t>TRAINING &amp; PLACEMENT CELL</a:t>
            </a:r>
          </a:p>
        </p:txBody>
      </p:sp>
      <p:sp>
        <p:nvSpPr>
          <p:cNvPr id="10" name="TextBox 9">
            <a:extLst>
              <a:ext uri="{FF2B5EF4-FFF2-40B4-BE49-F238E27FC236}">
                <a16:creationId xmlns:a16="http://schemas.microsoft.com/office/drawing/2014/main" id="{F6886013-BCAC-B682-FEB4-8A82C5193012}"/>
              </a:ext>
            </a:extLst>
          </p:cNvPr>
          <p:cNvSpPr txBox="1"/>
          <p:nvPr/>
        </p:nvSpPr>
        <p:spPr>
          <a:xfrm>
            <a:off x="1600200" y="2063869"/>
            <a:ext cx="14833636" cy="7940635"/>
          </a:xfrm>
          <a:prstGeom prst="rect">
            <a:avLst/>
          </a:prstGeom>
          <a:noFill/>
        </p:spPr>
        <p:txBody>
          <a:bodyPr wrap="square">
            <a:spAutoFit/>
          </a:bodyPr>
          <a:lstStyle/>
          <a:p>
            <a:r>
              <a:rPr lang="en-IN" sz="3200" b="1" dirty="0"/>
              <a:t>Dos, Don’ts &amp; Final Message</a:t>
            </a:r>
          </a:p>
          <a:p>
            <a:endParaRPr lang="en-IN" sz="3200" b="1" dirty="0"/>
          </a:p>
          <a:p>
            <a:pPr marL="457200" indent="-457200">
              <a:buFont typeface="Wingdings" panose="05000000000000000000" pitchFamily="2" charset="2"/>
              <a:buChar char="Ø"/>
            </a:pPr>
            <a:r>
              <a:rPr lang="en-IN" sz="3200" b="1" dirty="0"/>
              <a:t>Dos (From First Year):</a:t>
            </a:r>
            <a:endParaRPr lang="en-IN" sz="3200" dirty="0"/>
          </a:p>
          <a:p>
            <a:pPr marL="457200" indent="-457200">
              <a:buFont typeface="Courier New" panose="02070309020205020404" pitchFamily="49" charset="0"/>
              <a:buChar char="o"/>
            </a:pPr>
            <a:r>
              <a:rPr lang="en-IN" sz="3200" dirty="0"/>
              <a:t>Maintain </a:t>
            </a:r>
            <a:r>
              <a:rPr lang="en-IN" sz="3200" b="1" dirty="0"/>
              <a:t>good CGPA</a:t>
            </a:r>
            <a:r>
              <a:rPr lang="en-IN" sz="3200" dirty="0"/>
              <a:t> (companies set eligibility criteria).</a:t>
            </a:r>
          </a:p>
          <a:p>
            <a:pPr marL="457200" indent="-457200">
              <a:buFont typeface="Courier New" panose="02070309020205020404" pitchFamily="49" charset="0"/>
              <a:buChar char="o"/>
            </a:pPr>
            <a:r>
              <a:rPr lang="en-IN" sz="3200" dirty="0"/>
              <a:t>Start </a:t>
            </a:r>
            <a:r>
              <a:rPr lang="en-IN" sz="3200" b="1" dirty="0"/>
              <a:t>coding and logical problem-solving</a:t>
            </a:r>
            <a:r>
              <a:rPr lang="en-IN" sz="3200" dirty="0"/>
              <a:t> early.</a:t>
            </a:r>
          </a:p>
          <a:p>
            <a:pPr marL="457200" indent="-457200">
              <a:buFont typeface="Courier New" panose="02070309020205020404" pitchFamily="49" charset="0"/>
              <a:buChar char="o"/>
            </a:pPr>
            <a:r>
              <a:rPr lang="en-IN" sz="3200" dirty="0"/>
              <a:t>Improve </a:t>
            </a:r>
            <a:r>
              <a:rPr lang="en-IN" sz="3200" b="1" dirty="0"/>
              <a:t>communication &amp; presentation skills</a:t>
            </a:r>
            <a:r>
              <a:rPr lang="en-IN" sz="3200" dirty="0"/>
              <a:t>.</a:t>
            </a:r>
          </a:p>
          <a:p>
            <a:pPr marL="457200" indent="-457200">
              <a:buFont typeface="Courier New" panose="02070309020205020404" pitchFamily="49" charset="0"/>
              <a:buChar char="o"/>
            </a:pPr>
            <a:r>
              <a:rPr lang="en-IN" sz="3200" dirty="0"/>
              <a:t>Join clubs, societies, and competitions to gain exposure.</a:t>
            </a:r>
          </a:p>
          <a:p>
            <a:pPr marL="457200" indent="-457200">
              <a:buFont typeface="Courier New" panose="02070309020205020404" pitchFamily="49" charset="0"/>
              <a:buChar char="o"/>
            </a:pPr>
            <a:r>
              <a:rPr lang="en-IN" sz="3200" dirty="0"/>
              <a:t>Build your </a:t>
            </a:r>
            <a:r>
              <a:rPr lang="en-IN" sz="3200" b="1" dirty="0"/>
              <a:t>digital presence</a:t>
            </a:r>
            <a:r>
              <a:rPr lang="en-IN" sz="3200" dirty="0"/>
              <a:t> (LinkedIn, GitHub).</a:t>
            </a:r>
          </a:p>
          <a:p>
            <a:pPr marL="457200" indent="-457200">
              <a:buFont typeface="Courier New" panose="02070309020205020404" pitchFamily="49" charset="0"/>
              <a:buChar char="o"/>
            </a:pPr>
            <a:r>
              <a:rPr lang="en-IN" sz="3200" dirty="0"/>
              <a:t>Be punctual, disciplined, and professional in attitude.</a:t>
            </a:r>
          </a:p>
          <a:p>
            <a:pPr marL="457200" indent="-457200">
              <a:buFont typeface="Wingdings" panose="05000000000000000000" pitchFamily="2" charset="2"/>
              <a:buChar char="Ø"/>
            </a:pPr>
            <a:r>
              <a:rPr lang="en-IN" sz="3200" b="1" dirty="0"/>
              <a:t>Don’ts:</a:t>
            </a:r>
            <a:endParaRPr lang="en-IN" sz="3200" dirty="0"/>
          </a:p>
          <a:p>
            <a:pPr marL="457200" indent="-457200">
              <a:buFont typeface="Courier New" panose="02070309020205020404" pitchFamily="49" charset="0"/>
              <a:buChar char="o"/>
            </a:pPr>
            <a:r>
              <a:rPr lang="en-IN" sz="3200" dirty="0"/>
              <a:t>Don’t neglect academics thinking “placements are far away.”</a:t>
            </a:r>
          </a:p>
          <a:p>
            <a:pPr marL="457200" indent="-457200">
              <a:buFont typeface="Courier New" panose="02070309020205020404" pitchFamily="49" charset="0"/>
              <a:buChar char="o"/>
            </a:pPr>
            <a:r>
              <a:rPr lang="en-IN" sz="3200" dirty="0"/>
              <a:t>Don’t copy assignments—</a:t>
            </a:r>
            <a:r>
              <a:rPr lang="en-IN" sz="3200" b="1" dirty="0"/>
              <a:t>learn concepts</a:t>
            </a:r>
            <a:r>
              <a:rPr lang="en-IN" sz="3200" dirty="0"/>
              <a:t> instead.</a:t>
            </a:r>
          </a:p>
          <a:p>
            <a:pPr marL="457200" indent="-457200">
              <a:buFont typeface="Courier New" panose="02070309020205020404" pitchFamily="49" charset="0"/>
              <a:buChar char="o"/>
            </a:pPr>
            <a:r>
              <a:rPr lang="en-IN" sz="3200" dirty="0"/>
              <a:t>Don’t waste excessive time on social media/gaming.</a:t>
            </a:r>
          </a:p>
          <a:p>
            <a:pPr marL="457200" indent="-457200">
              <a:buFont typeface="Courier New" panose="02070309020205020404" pitchFamily="49" charset="0"/>
              <a:buChar char="o"/>
            </a:pPr>
            <a:r>
              <a:rPr lang="en-IN" sz="3200" dirty="0"/>
              <a:t>Don’t postpone preparation until the final year.</a:t>
            </a:r>
          </a:p>
          <a:p>
            <a:pPr marL="457200" indent="-457200">
              <a:buFont typeface="Courier New" panose="02070309020205020404" pitchFamily="49" charset="0"/>
              <a:buChar char="o"/>
            </a:pPr>
            <a:r>
              <a:rPr lang="en-IN" sz="3200" dirty="0"/>
              <a:t>Don’t fear failure—</a:t>
            </a:r>
            <a:r>
              <a:rPr lang="en-IN" sz="3200" b="1" dirty="0"/>
              <a:t>learn, adapt, and grow.</a:t>
            </a:r>
            <a:endParaRPr lang="en-IN" sz="3200" dirty="0"/>
          </a:p>
          <a:p>
            <a:endParaRPr lang="en-IN" sz="3000" dirty="0"/>
          </a:p>
        </p:txBody>
      </p:sp>
    </p:spTree>
    <p:extLst>
      <p:ext uri="{BB962C8B-B14F-4D97-AF65-F5344CB8AC3E}">
        <p14:creationId xmlns:p14="http://schemas.microsoft.com/office/powerpoint/2010/main" val="1220313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EFEC"/>
        </a:solidFill>
        <a:effectLst/>
      </p:bgPr>
    </p:bg>
    <p:spTree>
      <p:nvGrpSpPr>
        <p:cNvPr id="1" name="">
          <a:extLst>
            <a:ext uri="{FF2B5EF4-FFF2-40B4-BE49-F238E27FC236}">
              <a16:creationId xmlns:a16="http://schemas.microsoft.com/office/drawing/2014/main" id="{D31CD0B5-4F7D-E99B-2893-B14F12EF5EF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7ED5F55-58F5-B41E-33B9-79779CBBF753}"/>
              </a:ext>
            </a:extLst>
          </p:cNvPr>
          <p:cNvSpPr/>
          <p:nvPr/>
        </p:nvSpPr>
        <p:spPr>
          <a:xfrm rot="1415601">
            <a:off x="11178872" y="-8647208"/>
            <a:ext cx="15132390" cy="15132390"/>
          </a:xfrm>
          <a:custGeom>
            <a:avLst/>
            <a:gdLst/>
            <a:ahLst/>
            <a:cxnLst/>
            <a:rect l="l" t="t" r="r" b="b"/>
            <a:pathLst>
              <a:path w="15132390" h="15132390">
                <a:moveTo>
                  <a:pt x="0" y="0"/>
                </a:moveTo>
                <a:lnTo>
                  <a:pt x="15132390" y="0"/>
                </a:lnTo>
                <a:lnTo>
                  <a:pt x="15132390" y="15132390"/>
                </a:lnTo>
                <a:lnTo>
                  <a:pt x="0" y="15132390"/>
                </a:lnTo>
                <a:lnTo>
                  <a:pt x="0" y="0"/>
                </a:lnTo>
                <a:close/>
              </a:path>
            </a:pathLst>
          </a:custGeom>
          <a:blipFill>
            <a:blip r:embed="rId3">
              <a:alphaModFix amt="47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05F33C28-2A5A-CAF2-F987-7421F544179A}"/>
              </a:ext>
            </a:extLst>
          </p:cNvPr>
          <p:cNvSpPr/>
          <p:nvPr/>
        </p:nvSpPr>
        <p:spPr>
          <a:xfrm rot="-9975434">
            <a:off x="3511542" y="6425317"/>
            <a:ext cx="12269998" cy="12269998"/>
          </a:xfrm>
          <a:custGeom>
            <a:avLst/>
            <a:gdLst/>
            <a:ahLst/>
            <a:cxnLst/>
            <a:rect l="l" t="t" r="r" b="b"/>
            <a:pathLst>
              <a:path w="12269998" h="12269998">
                <a:moveTo>
                  <a:pt x="0" y="0"/>
                </a:moveTo>
                <a:lnTo>
                  <a:pt x="12269998" y="0"/>
                </a:lnTo>
                <a:lnTo>
                  <a:pt x="12269998" y="12269998"/>
                </a:lnTo>
                <a:lnTo>
                  <a:pt x="0" y="12269998"/>
                </a:lnTo>
                <a:lnTo>
                  <a:pt x="0" y="0"/>
                </a:lnTo>
                <a:close/>
              </a:path>
            </a:pathLst>
          </a:custGeom>
          <a:blipFill>
            <a:blip r:embed="rId5">
              <a:alphaModFix amt="47000"/>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A4831020-9A60-3470-1AE7-B0CFB763FD24}"/>
              </a:ext>
            </a:extLst>
          </p:cNvPr>
          <p:cNvSpPr/>
          <p:nvPr/>
        </p:nvSpPr>
        <p:spPr>
          <a:xfrm rot="-1795323">
            <a:off x="-8621604" y="-11367032"/>
            <a:ext cx="16539127" cy="16539127"/>
          </a:xfrm>
          <a:custGeom>
            <a:avLst/>
            <a:gdLst/>
            <a:ahLst/>
            <a:cxnLst/>
            <a:rect l="l" t="t" r="r" b="b"/>
            <a:pathLst>
              <a:path w="16539127" h="16539127">
                <a:moveTo>
                  <a:pt x="0" y="0"/>
                </a:moveTo>
                <a:lnTo>
                  <a:pt x="16539128" y="0"/>
                </a:lnTo>
                <a:lnTo>
                  <a:pt x="16539128" y="16539127"/>
                </a:lnTo>
                <a:lnTo>
                  <a:pt x="0" y="16539127"/>
                </a:lnTo>
                <a:lnTo>
                  <a:pt x="0" y="0"/>
                </a:lnTo>
                <a:close/>
              </a:path>
            </a:pathLst>
          </a:custGeom>
          <a:blipFill>
            <a:blip r:embed="rId7">
              <a:alphaModFix amt="47000"/>
              <a:extLst>
                <a:ext uri="{96DAC541-7B7A-43D3-8B79-37D633B846F1}">
                  <asvg:svgBlip xmlns:asvg="http://schemas.microsoft.com/office/drawing/2016/SVG/main" r:embed="rId8"/>
                </a:ext>
              </a:extLst>
            </a:blip>
            <a:stretch>
              <a:fillRect/>
            </a:stretch>
          </a:blipFill>
        </p:spPr>
        <p:txBody>
          <a:bodyPr/>
          <a:lstStyle/>
          <a:p>
            <a:endParaRPr lang="en-US"/>
          </a:p>
        </p:txBody>
      </p:sp>
      <p:sp>
        <p:nvSpPr>
          <p:cNvPr id="5" name="AutoShape 5">
            <a:extLst>
              <a:ext uri="{FF2B5EF4-FFF2-40B4-BE49-F238E27FC236}">
                <a16:creationId xmlns:a16="http://schemas.microsoft.com/office/drawing/2014/main" id="{214DC353-4AC4-BF38-AF2F-603B3E929A27}"/>
              </a:ext>
            </a:extLst>
          </p:cNvPr>
          <p:cNvSpPr/>
          <p:nvPr/>
        </p:nvSpPr>
        <p:spPr>
          <a:xfrm flipV="1">
            <a:off x="7744025" y="9831912"/>
            <a:ext cx="0" cy="407463"/>
          </a:xfrm>
          <a:prstGeom prst="line">
            <a:avLst/>
          </a:prstGeom>
          <a:ln w="38100" cap="flat">
            <a:solidFill>
              <a:srgbClr val="FAFAFA"/>
            </a:solidFill>
            <a:prstDash val="solid"/>
            <a:headEnd type="none" w="sm" len="sm"/>
            <a:tailEnd type="none" w="sm" len="sm"/>
          </a:ln>
        </p:spPr>
        <p:txBody>
          <a:bodyPr/>
          <a:lstStyle/>
          <a:p>
            <a:endParaRPr lang="en-US"/>
          </a:p>
        </p:txBody>
      </p:sp>
      <p:graphicFrame>
        <p:nvGraphicFramePr>
          <p:cNvPr id="8" name="Content Placeholder 5">
            <a:hlinkClick r:id="" action="ppaction://ole?verb=0"/>
            <a:extLst>
              <a:ext uri="{FF2B5EF4-FFF2-40B4-BE49-F238E27FC236}">
                <a16:creationId xmlns:a16="http://schemas.microsoft.com/office/drawing/2014/main" id="{8C9B9F58-E940-41DA-A5A7-A02409684CB1}"/>
              </a:ext>
            </a:extLst>
          </p:cNvPr>
          <p:cNvGraphicFramePr>
            <a:graphicFrameLocks noChangeAspect="1"/>
          </p:cNvGraphicFramePr>
          <p:nvPr>
            <p:extLst>
              <p:ext uri="{D42A27DB-BD31-4B8C-83A1-F6EECF244321}">
                <p14:modId xmlns:p14="http://schemas.microsoft.com/office/powerpoint/2010/main" val="3337009390"/>
              </p:ext>
            </p:extLst>
          </p:nvPr>
        </p:nvGraphicFramePr>
        <p:xfrm>
          <a:off x="1587" y="1588"/>
          <a:ext cx="18286412" cy="9768503"/>
        </p:xfrm>
        <a:graphic>
          <a:graphicData uri="http://schemas.openxmlformats.org/presentationml/2006/ole">
            <mc:AlternateContent xmlns:mc="http://schemas.openxmlformats.org/markup-compatibility/2006">
              <mc:Choice xmlns:v="urn:schemas-microsoft-com:vml" Requires="v">
                <p:oleObj spid="_x0000_s1027" name="Presentation" r:id="rId9" imgW="4751959" imgH="2671425" progId="PowerPoint.Show.12">
                  <p:embed/>
                </p:oleObj>
              </mc:Choice>
              <mc:Fallback>
                <p:oleObj name="Presentation" r:id="rId9" imgW="4751959" imgH="2671425" progId="PowerPoint.Show.12">
                  <p:embed/>
                  <p:pic>
                    <p:nvPicPr>
                      <p:cNvPr id="6" name="Content Placeholder 5">
                        <a:hlinkClick r:id="" action="ppaction://ole?verb=0"/>
                      </p:cNvPr>
                      <p:cNvPicPr/>
                      <p:nvPr/>
                    </p:nvPicPr>
                    <p:blipFill>
                      <a:blip r:embed="rId10"/>
                      <a:stretch>
                        <a:fillRect/>
                      </a:stretch>
                    </p:blipFill>
                    <p:spPr>
                      <a:xfrm>
                        <a:off x="1587" y="1588"/>
                        <a:ext cx="18286412" cy="9768503"/>
                      </a:xfrm>
                      <a:prstGeom prst="rect">
                        <a:avLst/>
                      </a:prstGeom>
                    </p:spPr>
                  </p:pic>
                </p:oleObj>
              </mc:Fallback>
            </mc:AlternateContent>
          </a:graphicData>
        </a:graphic>
      </p:graphicFrame>
    </p:spTree>
    <p:extLst>
      <p:ext uri="{BB962C8B-B14F-4D97-AF65-F5344CB8AC3E}">
        <p14:creationId xmlns:p14="http://schemas.microsoft.com/office/powerpoint/2010/main" val="788743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EFEC"/>
        </a:solidFill>
        <a:effectLst/>
      </p:bgPr>
    </p:bg>
    <p:spTree>
      <p:nvGrpSpPr>
        <p:cNvPr id="1" name=""/>
        <p:cNvGrpSpPr/>
        <p:nvPr/>
      </p:nvGrpSpPr>
      <p:grpSpPr>
        <a:xfrm>
          <a:off x="0" y="0"/>
          <a:ext cx="0" cy="0"/>
          <a:chOff x="0" y="0"/>
          <a:chExt cx="0" cy="0"/>
        </a:xfrm>
      </p:grpSpPr>
      <p:sp>
        <p:nvSpPr>
          <p:cNvPr id="2" name="Freeform 2"/>
          <p:cNvSpPr/>
          <p:nvPr/>
        </p:nvSpPr>
        <p:spPr>
          <a:xfrm rot="1415601">
            <a:off x="11200609" y="-8661100"/>
            <a:ext cx="15132390" cy="15132390"/>
          </a:xfrm>
          <a:custGeom>
            <a:avLst/>
            <a:gdLst/>
            <a:ahLst/>
            <a:cxnLst/>
            <a:rect l="l" t="t" r="r" b="b"/>
            <a:pathLst>
              <a:path w="15132390" h="15132390">
                <a:moveTo>
                  <a:pt x="0" y="0"/>
                </a:moveTo>
                <a:lnTo>
                  <a:pt x="15132390" y="0"/>
                </a:lnTo>
                <a:lnTo>
                  <a:pt x="15132390" y="15132390"/>
                </a:lnTo>
                <a:lnTo>
                  <a:pt x="0" y="15132390"/>
                </a:lnTo>
                <a:lnTo>
                  <a:pt x="0"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9975434">
            <a:off x="3511542" y="6425317"/>
            <a:ext cx="12269998" cy="12269998"/>
          </a:xfrm>
          <a:custGeom>
            <a:avLst/>
            <a:gdLst/>
            <a:ahLst/>
            <a:cxnLst/>
            <a:rect l="l" t="t" r="r" b="b"/>
            <a:pathLst>
              <a:path w="12269998" h="12269998">
                <a:moveTo>
                  <a:pt x="0" y="0"/>
                </a:moveTo>
                <a:lnTo>
                  <a:pt x="12269998" y="0"/>
                </a:lnTo>
                <a:lnTo>
                  <a:pt x="12269998" y="12269998"/>
                </a:lnTo>
                <a:lnTo>
                  <a:pt x="0" y="12269998"/>
                </a:lnTo>
                <a:lnTo>
                  <a:pt x="0"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1795323">
            <a:off x="-8621604" y="-11367032"/>
            <a:ext cx="16539127" cy="16539127"/>
          </a:xfrm>
          <a:custGeom>
            <a:avLst/>
            <a:gdLst/>
            <a:ahLst/>
            <a:cxnLst/>
            <a:rect l="l" t="t" r="r" b="b"/>
            <a:pathLst>
              <a:path w="16539127" h="16539127">
                <a:moveTo>
                  <a:pt x="0" y="0"/>
                </a:moveTo>
                <a:lnTo>
                  <a:pt x="16539128" y="0"/>
                </a:lnTo>
                <a:lnTo>
                  <a:pt x="16539128" y="16539127"/>
                </a:lnTo>
                <a:lnTo>
                  <a:pt x="0" y="16539127"/>
                </a:lnTo>
                <a:lnTo>
                  <a:pt x="0" y="0"/>
                </a:lnTo>
                <a:close/>
              </a:path>
            </a:pathLst>
          </a:custGeom>
          <a:blipFill>
            <a:blip r:embed="rId6">
              <a:alphaModFix amt="47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AutoShape 5"/>
          <p:cNvSpPr/>
          <p:nvPr/>
        </p:nvSpPr>
        <p:spPr>
          <a:xfrm flipV="1">
            <a:off x="7744025" y="9831912"/>
            <a:ext cx="0" cy="407463"/>
          </a:xfrm>
          <a:prstGeom prst="line">
            <a:avLst/>
          </a:prstGeom>
          <a:ln w="38100" cap="flat">
            <a:solidFill>
              <a:srgbClr val="FAFAFA"/>
            </a:solidFill>
            <a:prstDash val="solid"/>
            <a:headEnd type="none" w="sm" len="sm"/>
            <a:tailEnd type="none" w="sm" len="sm"/>
          </a:ln>
        </p:spPr>
        <p:txBody>
          <a:bodyPr/>
          <a:lstStyle/>
          <a:p>
            <a:endParaRPr lang="en-US"/>
          </a:p>
        </p:txBody>
      </p:sp>
      <p:sp>
        <p:nvSpPr>
          <p:cNvPr id="6" name="TextBox 6"/>
          <p:cNvSpPr txBox="1"/>
          <p:nvPr/>
        </p:nvSpPr>
        <p:spPr>
          <a:xfrm>
            <a:off x="2629154" y="3391852"/>
            <a:ext cx="13353870" cy="3503295"/>
          </a:xfrm>
          <a:prstGeom prst="rect">
            <a:avLst/>
          </a:prstGeom>
        </p:spPr>
        <p:txBody>
          <a:bodyPr lIns="0" tIns="0" rIns="0" bIns="0" rtlCol="0" anchor="t">
            <a:spAutoFit/>
          </a:bodyPr>
          <a:lstStyle/>
          <a:p>
            <a:pPr algn="ctr">
              <a:lnSpc>
                <a:spcPts val="9119"/>
              </a:lnSpc>
              <a:spcBef>
                <a:spcPct val="0"/>
              </a:spcBef>
            </a:pPr>
            <a:r>
              <a:rPr lang="en-US" sz="7599" b="1" dirty="0">
                <a:solidFill>
                  <a:srgbClr val="000000"/>
                </a:solidFill>
                <a:latin typeface="Tex Gyre Bonum Bold"/>
                <a:ea typeface="Tex Gyre Bonum Bold"/>
                <a:cs typeface="Tex Gyre Bonum Bold"/>
                <a:sym typeface="Tex Gyre Bonum Bold"/>
              </a:rPr>
              <a:t>Student Technical Clubs  Boosting Placement Readiness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EFEC"/>
        </a:solidFill>
        <a:effectLst/>
      </p:bgPr>
    </p:bg>
    <p:spTree>
      <p:nvGrpSpPr>
        <p:cNvPr id="1" name=""/>
        <p:cNvGrpSpPr/>
        <p:nvPr/>
      </p:nvGrpSpPr>
      <p:grpSpPr>
        <a:xfrm>
          <a:off x="0" y="0"/>
          <a:ext cx="0" cy="0"/>
          <a:chOff x="0" y="0"/>
          <a:chExt cx="0" cy="0"/>
        </a:xfrm>
      </p:grpSpPr>
      <p:sp>
        <p:nvSpPr>
          <p:cNvPr id="2" name="Freeform 2"/>
          <p:cNvSpPr/>
          <p:nvPr/>
        </p:nvSpPr>
        <p:spPr>
          <a:xfrm rot="1415601">
            <a:off x="11200609" y="-8661100"/>
            <a:ext cx="15132390" cy="15132390"/>
          </a:xfrm>
          <a:custGeom>
            <a:avLst/>
            <a:gdLst/>
            <a:ahLst/>
            <a:cxnLst/>
            <a:rect l="l" t="t" r="r" b="b"/>
            <a:pathLst>
              <a:path w="15132390" h="15132390">
                <a:moveTo>
                  <a:pt x="0" y="0"/>
                </a:moveTo>
                <a:lnTo>
                  <a:pt x="15132390" y="0"/>
                </a:lnTo>
                <a:lnTo>
                  <a:pt x="15132390" y="15132390"/>
                </a:lnTo>
                <a:lnTo>
                  <a:pt x="0" y="15132390"/>
                </a:lnTo>
                <a:lnTo>
                  <a:pt x="0"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9975434">
            <a:off x="3511542" y="6425317"/>
            <a:ext cx="12269998" cy="12269998"/>
          </a:xfrm>
          <a:custGeom>
            <a:avLst/>
            <a:gdLst/>
            <a:ahLst/>
            <a:cxnLst/>
            <a:rect l="l" t="t" r="r" b="b"/>
            <a:pathLst>
              <a:path w="12269998" h="12269998">
                <a:moveTo>
                  <a:pt x="0" y="0"/>
                </a:moveTo>
                <a:lnTo>
                  <a:pt x="12269998" y="0"/>
                </a:lnTo>
                <a:lnTo>
                  <a:pt x="12269998" y="12269998"/>
                </a:lnTo>
                <a:lnTo>
                  <a:pt x="0" y="12269998"/>
                </a:lnTo>
                <a:lnTo>
                  <a:pt x="0"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1795323">
            <a:off x="-8621604" y="-11367032"/>
            <a:ext cx="16539127" cy="16539127"/>
          </a:xfrm>
          <a:custGeom>
            <a:avLst/>
            <a:gdLst/>
            <a:ahLst/>
            <a:cxnLst/>
            <a:rect l="l" t="t" r="r" b="b"/>
            <a:pathLst>
              <a:path w="16539127" h="16539127">
                <a:moveTo>
                  <a:pt x="0" y="0"/>
                </a:moveTo>
                <a:lnTo>
                  <a:pt x="16539128" y="0"/>
                </a:lnTo>
                <a:lnTo>
                  <a:pt x="16539128" y="16539127"/>
                </a:lnTo>
                <a:lnTo>
                  <a:pt x="0" y="16539127"/>
                </a:lnTo>
                <a:lnTo>
                  <a:pt x="0" y="0"/>
                </a:lnTo>
                <a:close/>
              </a:path>
            </a:pathLst>
          </a:custGeom>
          <a:blipFill>
            <a:blip r:embed="rId6">
              <a:alphaModFix amt="47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AutoShape 5"/>
          <p:cNvSpPr/>
          <p:nvPr/>
        </p:nvSpPr>
        <p:spPr>
          <a:xfrm flipV="1">
            <a:off x="7744025" y="9831912"/>
            <a:ext cx="0" cy="407463"/>
          </a:xfrm>
          <a:prstGeom prst="line">
            <a:avLst/>
          </a:prstGeom>
          <a:ln w="38100" cap="flat">
            <a:solidFill>
              <a:srgbClr val="FAFAFA"/>
            </a:solidFill>
            <a:prstDash val="solid"/>
            <a:headEnd type="none" w="sm" len="sm"/>
            <a:tailEnd type="none" w="sm" len="sm"/>
          </a:ln>
        </p:spPr>
        <p:txBody>
          <a:bodyPr/>
          <a:lstStyle/>
          <a:p>
            <a:endParaRPr lang="en-US"/>
          </a:p>
        </p:txBody>
      </p:sp>
      <p:sp>
        <p:nvSpPr>
          <p:cNvPr id="6" name="TextBox 6"/>
          <p:cNvSpPr txBox="1"/>
          <p:nvPr/>
        </p:nvSpPr>
        <p:spPr>
          <a:xfrm>
            <a:off x="2438400" y="2865235"/>
            <a:ext cx="12341900" cy="5848461"/>
          </a:xfrm>
          <a:prstGeom prst="rect">
            <a:avLst/>
          </a:prstGeom>
        </p:spPr>
        <p:txBody>
          <a:bodyPr lIns="0" tIns="0" rIns="0" bIns="0" rtlCol="0" anchor="t">
            <a:spAutoFit/>
          </a:bodyPr>
          <a:lstStyle/>
          <a:p>
            <a:pPr marL="457200" indent="-457200" algn="l">
              <a:lnSpc>
                <a:spcPts val="3891"/>
              </a:lnSpc>
              <a:spcBef>
                <a:spcPct val="0"/>
              </a:spcBef>
              <a:buFont typeface="Arial" panose="020B0604020202020204" pitchFamily="34" charset="0"/>
              <a:buChar char="•"/>
            </a:pPr>
            <a:r>
              <a:rPr lang="en-US" sz="3242" dirty="0">
                <a:solidFill>
                  <a:srgbClr val="000000"/>
                </a:solidFill>
                <a:latin typeface="Tex Gyre Bonum"/>
                <a:ea typeface="Tex Gyre Bonum"/>
                <a:cs typeface="Tex Gyre Bonum"/>
                <a:sym typeface="Tex Gyre Bonum"/>
              </a:rPr>
              <a:t> </a:t>
            </a:r>
            <a:r>
              <a:rPr lang="en-US" sz="3242" b="1" dirty="0">
                <a:solidFill>
                  <a:srgbClr val="000000"/>
                </a:solidFill>
                <a:latin typeface="Tex Gyre Bonum Bold"/>
                <a:ea typeface="Tex Gyre Bonum Bold"/>
                <a:cs typeface="Tex Gyre Bonum Bold"/>
                <a:sym typeface="Tex Gyre Bonum Bold"/>
              </a:rPr>
              <a:t>Technical Skills:</a:t>
            </a:r>
            <a:r>
              <a:rPr lang="en-US" sz="3242" dirty="0">
                <a:solidFill>
                  <a:srgbClr val="000000"/>
                </a:solidFill>
                <a:latin typeface="Tex Gyre Bonum"/>
                <a:ea typeface="Tex Gyre Bonum"/>
                <a:cs typeface="Tex Gyre Bonum"/>
                <a:sym typeface="Tex Gyre Bonum"/>
              </a:rPr>
              <a:t> Coding, robotics, cybersecurity → directly useful in aptitude &amp; technical rounds.</a:t>
            </a:r>
          </a:p>
          <a:p>
            <a:pPr algn="l">
              <a:lnSpc>
                <a:spcPts val="3771"/>
              </a:lnSpc>
              <a:spcBef>
                <a:spcPct val="0"/>
              </a:spcBef>
            </a:pPr>
            <a:endParaRPr lang="en-US" sz="3242" dirty="0">
              <a:solidFill>
                <a:srgbClr val="000000"/>
              </a:solidFill>
              <a:latin typeface="Tex Gyre Bonum"/>
              <a:ea typeface="Tex Gyre Bonum"/>
              <a:cs typeface="Tex Gyre Bonum"/>
              <a:sym typeface="Tex Gyre Bonum"/>
            </a:endParaRPr>
          </a:p>
          <a:p>
            <a:pPr marL="457200" indent="-457200" algn="l">
              <a:lnSpc>
                <a:spcPts val="3771"/>
              </a:lnSpc>
              <a:spcBef>
                <a:spcPct val="0"/>
              </a:spcBef>
              <a:buFont typeface="Arial" panose="020B0604020202020204" pitchFamily="34" charset="0"/>
              <a:buChar char="•"/>
            </a:pPr>
            <a:r>
              <a:rPr lang="en-US" sz="3142" b="1" dirty="0">
                <a:solidFill>
                  <a:srgbClr val="000000"/>
                </a:solidFill>
                <a:latin typeface="Tex Gyre Bonum Bold"/>
                <a:ea typeface="Tex Gyre Bonum Bold"/>
                <a:cs typeface="Tex Gyre Bonum Bold"/>
                <a:sym typeface="Tex Gyre Bonum Bold"/>
              </a:rPr>
              <a:t>Soft Skills:</a:t>
            </a:r>
            <a:r>
              <a:rPr lang="en-US" sz="3142" dirty="0">
                <a:solidFill>
                  <a:srgbClr val="000000"/>
                </a:solidFill>
                <a:latin typeface="Tex Gyre Bonum"/>
                <a:ea typeface="Tex Gyre Bonum"/>
                <a:cs typeface="Tex Gyre Bonum"/>
                <a:sym typeface="Tex Gyre Bonum"/>
              </a:rPr>
              <a:t> Teamwork, communication, leadership from seminars &amp; projects.</a:t>
            </a:r>
          </a:p>
          <a:p>
            <a:pPr algn="l">
              <a:lnSpc>
                <a:spcPts val="3771"/>
              </a:lnSpc>
              <a:spcBef>
                <a:spcPct val="0"/>
              </a:spcBef>
            </a:pPr>
            <a:endParaRPr lang="en-US" sz="3142" dirty="0">
              <a:solidFill>
                <a:srgbClr val="000000"/>
              </a:solidFill>
              <a:latin typeface="Tex Gyre Bonum"/>
              <a:ea typeface="Tex Gyre Bonum"/>
              <a:cs typeface="Tex Gyre Bonum"/>
              <a:sym typeface="Tex Gyre Bonum"/>
            </a:endParaRPr>
          </a:p>
          <a:p>
            <a:pPr marL="457200" indent="-457200" algn="l">
              <a:lnSpc>
                <a:spcPts val="3771"/>
              </a:lnSpc>
              <a:spcBef>
                <a:spcPct val="0"/>
              </a:spcBef>
              <a:buFont typeface="Arial" panose="020B0604020202020204" pitchFamily="34" charset="0"/>
              <a:buChar char="•"/>
            </a:pPr>
            <a:r>
              <a:rPr lang="en-US" sz="3142" b="1" dirty="0">
                <a:solidFill>
                  <a:srgbClr val="000000"/>
                </a:solidFill>
                <a:latin typeface="Tex Gyre Bonum Bold"/>
                <a:ea typeface="Tex Gyre Bonum Bold"/>
                <a:cs typeface="Tex Gyre Bonum Bold"/>
                <a:sym typeface="Tex Gyre Bonum Bold"/>
              </a:rPr>
              <a:t>Industry Exposure:</a:t>
            </a:r>
            <a:r>
              <a:rPr lang="en-US" sz="3142" dirty="0">
                <a:solidFill>
                  <a:srgbClr val="000000"/>
                </a:solidFill>
                <a:latin typeface="Tex Gyre Bonum"/>
                <a:ea typeface="Tex Gyre Bonum"/>
                <a:cs typeface="Tex Gyre Bonum"/>
                <a:sym typeface="Tex Gyre Bonum"/>
              </a:rPr>
              <a:t> Real-world problem solving &amp; hackathon experience.</a:t>
            </a:r>
          </a:p>
          <a:p>
            <a:pPr algn="l">
              <a:lnSpc>
                <a:spcPts val="3771"/>
              </a:lnSpc>
              <a:spcBef>
                <a:spcPct val="0"/>
              </a:spcBef>
            </a:pPr>
            <a:endParaRPr lang="en-US" sz="3142" dirty="0">
              <a:solidFill>
                <a:srgbClr val="000000"/>
              </a:solidFill>
              <a:latin typeface="Tex Gyre Bonum"/>
              <a:ea typeface="Tex Gyre Bonum"/>
              <a:cs typeface="Tex Gyre Bonum"/>
              <a:sym typeface="Tex Gyre Bonum"/>
            </a:endParaRPr>
          </a:p>
          <a:p>
            <a:pPr marL="457200" indent="-457200" algn="l">
              <a:lnSpc>
                <a:spcPts val="3771"/>
              </a:lnSpc>
              <a:spcBef>
                <a:spcPct val="0"/>
              </a:spcBef>
              <a:buFont typeface="Arial" panose="020B0604020202020204" pitchFamily="34" charset="0"/>
              <a:buChar char="•"/>
            </a:pPr>
            <a:r>
              <a:rPr lang="en-US" sz="3142" b="1" dirty="0">
                <a:solidFill>
                  <a:srgbClr val="000000"/>
                </a:solidFill>
                <a:latin typeface="Tex Gyre Bonum Bold"/>
                <a:ea typeface="Tex Gyre Bonum Bold"/>
                <a:cs typeface="Tex Gyre Bonum Bold"/>
                <a:sym typeface="Tex Gyre Bonum Bold"/>
              </a:rPr>
              <a:t>Recruiter Preference: </a:t>
            </a:r>
            <a:r>
              <a:rPr lang="en-US" sz="3142" dirty="0">
                <a:solidFill>
                  <a:srgbClr val="000000"/>
                </a:solidFill>
                <a:latin typeface="Tex Gyre Bonum"/>
                <a:ea typeface="Tex Gyre Bonum"/>
                <a:cs typeface="Tex Gyre Bonum"/>
                <a:sym typeface="Tex Gyre Bonum"/>
              </a:rPr>
              <a:t>Students with club involvement stand out due to practical learning &amp; initiative.</a:t>
            </a:r>
          </a:p>
          <a:p>
            <a:pPr algn="l">
              <a:lnSpc>
                <a:spcPts val="3771"/>
              </a:lnSpc>
              <a:spcBef>
                <a:spcPct val="0"/>
              </a:spcBef>
            </a:pPr>
            <a:endParaRPr lang="en-US" sz="3142" dirty="0">
              <a:solidFill>
                <a:srgbClr val="000000"/>
              </a:solidFill>
              <a:latin typeface="Tex Gyre Bonum"/>
              <a:ea typeface="Tex Gyre Bonum"/>
              <a:cs typeface="Tex Gyre Bonum"/>
              <a:sym typeface="Tex Gyre Bonum"/>
            </a:endParaRPr>
          </a:p>
        </p:txBody>
      </p:sp>
      <p:sp>
        <p:nvSpPr>
          <p:cNvPr id="7" name="TextBox 7"/>
          <p:cNvSpPr txBox="1"/>
          <p:nvPr/>
        </p:nvSpPr>
        <p:spPr>
          <a:xfrm>
            <a:off x="1066800" y="541910"/>
            <a:ext cx="15868558" cy="2365157"/>
          </a:xfrm>
          <a:prstGeom prst="rect">
            <a:avLst/>
          </a:prstGeom>
        </p:spPr>
        <p:txBody>
          <a:bodyPr lIns="0" tIns="0" rIns="0" bIns="0" rtlCol="0" anchor="t">
            <a:spAutoFit/>
          </a:bodyPr>
          <a:lstStyle/>
          <a:p>
            <a:pPr algn="ctr">
              <a:lnSpc>
                <a:spcPts val="9116"/>
              </a:lnSpc>
            </a:pPr>
            <a:r>
              <a:rPr lang="en-US" sz="9116" b="1" spc="-309" dirty="0">
                <a:solidFill>
                  <a:srgbClr val="2E2E2E"/>
                </a:solidFill>
                <a:latin typeface="Montserrat Bold"/>
                <a:ea typeface="Montserrat Bold"/>
                <a:cs typeface="Montserrat Bold"/>
                <a:sym typeface="Montserrat Bold"/>
              </a:rPr>
              <a:t> Placement Value of Clubs</a:t>
            </a:r>
          </a:p>
          <a:p>
            <a:pPr algn="ctr">
              <a:lnSpc>
                <a:spcPts val="9116"/>
              </a:lnSpc>
            </a:pPr>
            <a:endParaRPr lang="en-US" sz="9116" b="1" spc="-309" dirty="0">
              <a:solidFill>
                <a:srgbClr val="2E2E2E"/>
              </a:solidFill>
              <a:latin typeface="Montserrat Bold"/>
              <a:ea typeface="Montserrat Bold"/>
              <a:cs typeface="Montserrat Bold"/>
              <a:sym typeface="Montserrat Bo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EFEC"/>
        </a:solidFill>
        <a:effectLst/>
      </p:bgPr>
    </p:bg>
    <p:spTree>
      <p:nvGrpSpPr>
        <p:cNvPr id="1" name=""/>
        <p:cNvGrpSpPr/>
        <p:nvPr/>
      </p:nvGrpSpPr>
      <p:grpSpPr>
        <a:xfrm>
          <a:off x="0" y="0"/>
          <a:ext cx="0" cy="0"/>
          <a:chOff x="0" y="0"/>
          <a:chExt cx="0" cy="0"/>
        </a:xfrm>
      </p:grpSpPr>
      <p:sp>
        <p:nvSpPr>
          <p:cNvPr id="2" name="Freeform 2"/>
          <p:cNvSpPr/>
          <p:nvPr/>
        </p:nvSpPr>
        <p:spPr>
          <a:xfrm rot="1415601">
            <a:off x="11200609" y="-8661100"/>
            <a:ext cx="15132390" cy="15132390"/>
          </a:xfrm>
          <a:custGeom>
            <a:avLst/>
            <a:gdLst/>
            <a:ahLst/>
            <a:cxnLst/>
            <a:rect l="l" t="t" r="r" b="b"/>
            <a:pathLst>
              <a:path w="15132390" h="15132390">
                <a:moveTo>
                  <a:pt x="0" y="0"/>
                </a:moveTo>
                <a:lnTo>
                  <a:pt x="15132390" y="0"/>
                </a:lnTo>
                <a:lnTo>
                  <a:pt x="15132390" y="15132390"/>
                </a:lnTo>
                <a:lnTo>
                  <a:pt x="0" y="15132390"/>
                </a:lnTo>
                <a:lnTo>
                  <a:pt x="0"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9975434">
            <a:off x="3511542" y="6425317"/>
            <a:ext cx="12269998" cy="12269998"/>
          </a:xfrm>
          <a:custGeom>
            <a:avLst/>
            <a:gdLst/>
            <a:ahLst/>
            <a:cxnLst/>
            <a:rect l="l" t="t" r="r" b="b"/>
            <a:pathLst>
              <a:path w="12269998" h="12269998">
                <a:moveTo>
                  <a:pt x="0" y="0"/>
                </a:moveTo>
                <a:lnTo>
                  <a:pt x="12269998" y="0"/>
                </a:lnTo>
                <a:lnTo>
                  <a:pt x="12269998" y="12269998"/>
                </a:lnTo>
                <a:lnTo>
                  <a:pt x="0" y="12269998"/>
                </a:lnTo>
                <a:lnTo>
                  <a:pt x="0"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1795323">
            <a:off x="-7368164" y="-10151552"/>
            <a:ext cx="16539127" cy="16539127"/>
          </a:xfrm>
          <a:custGeom>
            <a:avLst/>
            <a:gdLst/>
            <a:ahLst/>
            <a:cxnLst/>
            <a:rect l="l" t="t" r="r" b="b"/>
            <a:pathLst>
              <a:path w="16539127" h="16539127">
                <a:moveTo>
                  <a:pt x="0" y="0"/>
                </a:moveTo>
                <a:lnTo>
                  <a:pt x="16539128" y="0"/>
                </a:lnTo>
                <a:lnTo>
                  <a:pt x="16539128" y="16539127"/>
                </a:lnTo>
                <a:lnTo>
                  <a:pt x="0" y="16539127"/>
                </a:lnTo>
                <a:lnTo>
                  <a:pt x="0" y="0"/>
                </a:lnTo>
                <a:close/>
              </a:path>
            </a:pathLst>
          </a:custGeom>
          <a:blipFill>
            <a:blip r:embed="rId6">
              <a:alphaModFix amt="47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AutoShape 5"/>
          <p:cNvSpPr/>
          <p:nvPr/>
        </p:nvSpPr>
        <p:spPr>
          <a:xfrm flipV="1">
            <a:off x="7744025" y="9831912"/>
            <a:ext cx="0" cy="407463"/>
          </a:xfrm>
          <a:prstGeom prst="line">
            <a:avLst/>
          </a:prstGeom>
          <a:ln w="38100" cap="flat">
            <a:solidFill>
              <a:srgbClr val="FAFAFA"/>
            </a:solidFill>
            <a:prstDash val="solid"/>
            <a:headEnd type="none" w="sm" len="sm"/>
            <a:tailEnd type="none" w="sm" len="sm"/>
          </a:ln>
        </p:spPr>
        <p:txBody>
          <a:bodyPr/>
          <a:lstStyle/>
          <a:p>
            <a:endParaRPr lang="en-US"/>
          </a:p>
        </p:txBody>
      </p:sp>
      <p:sp>
        <p:nvSpPr>
          <p:cNvPr id="6" name="TextBox 6"/>
          <p:cNvSpPr txBox="1"/>
          <p:nvPr/>
        </p:nvSpPr>
        <p:spPr>
          <a:xfrm>
            <a:off x="2463050" y="2106557"/>
            <a:ext cx="14833636" cy="6155531"/>
          </a:xfrm>
          <a:prstGeom prst="rect">
            <a:avLst/>
          </a:prstGeom>
        </p:spPr>
        <p:txBody>
          <a:bodyPr wrap="square" lIns="0" tIns="0" rIns="0" bIns="0" rtlCol="0" anchor="t">
            <a:spAutoFit/>
          </a:bodyPr>
          <a:lstStyle/>
          <a:p>
            <a:pPr algn="l">
              <a:lnSpc>
                <a:spcPts val="4011"/>
              </a:lnSpc>
              <a:spcBef>
                <a:spcPct val="0"/>
              </a:spcBef>
            </a:pPr>
            <a:r>
              <a:rPr lang="en-US" sz="3342" dirty="0">
                <a:solidFill>
                  <a:srgbClr val="000000"/>
                </a:solidFill>
                <a:latin typeface="Tex Gyre Bonum"/>
                <a:ea typeface="Tex Gyre Bonum"/>
                <a:cs typeface="Tex Gyre Bonum"/>
                <a:sym typeface="Tex Gyre Bonum"/>
              </a:rPr>
              <a:t> </a:t>
            </a:r>
          </a:p>
          <a:p>
            <a:pPr algn="l">
              <a:lnSpc>
                <a:spcPts val="4011"/>
              </a:lnSpc>
              <a:spcBef>
                <a:spcPct val="0"/>
              </a:spcBef>
            </a:pPr>
            <a:endParaRPr lang="en-US" sz="3342" dirty="0">
              <a:solidFill>
                <a:srgbClr val="000000"/>
              </a:solidFill>
              <a:latin typeface="Tex Gyre Bonum"/>
              <a:ea typeface="Tex Gyre Bonum"/>
              <a:cs typeface="Tex Gyre Bonum"/>
              <a:sym typeface="Tex Gyre Bonum"/>
            </a:endParaRPr>
          </a:p>
          <a:p>
            <a:pPr marL="457200" indent="-457200" algn="l">
              <a:lnSpc>
                <a:spcPts val="4011"/>
              </a:lnSpc>
              <a:spcBef>
                <a:spcPct val="0"/>
              </a:spcBef>
              <a:buFont typeface="Arial" panose="020B0604020202020204" pitchFamily="34" charset="0"/>
              <a:buChar char="•"/>
            </a:pPr>
            <a:r>
              <a:rPr lang="en-US" sz="3342" dirty="0">
                <a:solidFill>
                  <a:srgbClr val="000000"/>
                </a:solidFill>
                <a:latin typeface="Tex Gyre Bonum"/>
                <a:ea typeface="Tex Gyre Bonum"/>
                <a:cs typeface="Tex Gyre Bonum"/>
                <a:sym typeface="Tex Gyre Bonum"/>
              </a:rPr>
              <a:t>Provides hands-on experience in robotics, electronics, design &amp; programming.</a:t>
            </a:r>
          </a:p>
          <a:p>
            <a:pPr marL="457200" indent="-457200" algn="l">
              <a:lnSpc>
                <a:spcPts val="4011"/>
              </a:lnSpc>
              <a:spcBef>
                <a:spcPct val="0"/>
              </a:spcBef>
              <a:buFont typeface="Arial" panose="020B0604020202020204" pitchFamily="34" charset="0"/>
              <a:buChar char="•"/>
            </a:pPr>
            <a:endParaRPr lang="en-US" sz="3342" dirty="0">
              <a:solidFill>
                <a:srgbClr val="000000"/>
              </a:solidFill>
              <a:latin typeface="Tex Gyre Bonum"/>
              <a:ea typeface="Tex Gyre Bonum"/>
              <a:cs typeface="Tex Gyre Bonum"/>
              <a:sym typeface="Tex Gyre Bonum"/>
            </a:endParaRPr>
          </a:p>
          <a:p>
            <a:pPr marL="457200" indent="-457200">
              <a:lnSpc>
                <a:spcPts val="4011"/>
              </a:lnSpc>
              <a:spcBef>
                <a:spcPct val="0"/>
              </a:spcBef>
              <a:buFont typeface="Arial" panose="020B0604020202020204" pitchFamily="34" charset="0"/>
              <a:buChar char="•"/>
            </a:pPr>
            <a:r>
              <a:rPr lang="en-US" sz="3342" dirty="0">
                <a:solidFill>
                  <a:srgbClr val="000000"/>
                </a:solidFill>
                <a:latin typeface="Tex Gyre Bonum"/>
                <a:ea typeface="Tex Gyre Bonum"/>
                <a:cs typeface="Tex Gyre Bonum"/>
                <a:sym typeface="Tex Gyre Bonum"/>
              </a:rPr>
              <a:t>Encourages interdisciplinary collaboration, similar to real industry projects.</a:t>
            </a:r>
          </a:p>
          <a:p>
            <a:pPr marL="457200" indent="-457200" algn="l">
              <a:lnSpc>
                <a:spcPts val="4011"/>
              </a:lnSpc>
              <a:spcBef>
                <a:spcPct val="0"/>
              </a:spcBef>
              <a:buFont typeface="Arial" panose="020B0604020202020204" pitchFamily="34" charset="0"/>
              <a:buChar char="•"/>
            </a:pPr>
            <a:endParaRPr lang="en-US" sz="3342" dirty="0">
              <a:solidFill>
                <a:srgbClr val="000000"/>
              </a:solidFill>
              <a:latin typeface="Tex Gyre Bonum"/>
              <a:ea typeface="Tex Gyre Bonum"/>
              <a:cs typeface="Tex Gyre Bonum"/>
              <a:sym typeface="Tex Gyre Bonum"/>
            </a:endParaRPr>
          </a:p>
          <a:p>
            <a:pPr marL="457200" indent="-457200" algn="l">
              <a:lnSpc>
                <a:spcPts val="4011"/>
              </a:lnSpc>
              <a:spcBef>
                <a:spcPct val="0"/>
              </a:spcBef>
              <a:buFont typeface="Arial" panose="020B0604020202020204" pitchFamily="34" charset="0"/>
              <a:buChar char="•"/>
            </a:pPr>
            <a:r>
              <a:rPr lang="en-US" sz="3342" dirty="0">
                <a:solidFill>
                  <a:srgbClr val="000000"/>
                </a:solidFill>
                <a:latin typeface="Tex Gyre Bonum"/>
                <a:ea typeface="Tex Gyre Bonum"/>
                <a:cs typeface="Tex Gyre Bonum"/>
                <a:sym typeface="Tex Gyre Bonum"/>
              </a:rPr>
              <a:t>Builds problem-solving ability by applying technology to real-world challenges.</a:t>
            </a:r>
          </a:p>
          <a:p>
            <a:pPr marL="457200" indent="-457200" algn="l">
              <a:lnSpc>
                <a:spcPts val="4011"/>
              </a:lnSpc>
              <a:spcBef>
                <a:spcPct val="0"/>
              </a:spcBef>
              <a:buFont typeface="Arial" panose="020B0604020202020204" pitchFamily="34" charset="0"/>
              <a:buChar char="•"/>
            </a:pPr>
            <a:endParaRPr lang="en-US" sz="3342" dirty="0">
              <a:solidFill>
                <a:srgbClr val="000000"/>
              </a:solidFill>
              <a:latin typeface="Tex Gyre Bonum"/>
              <a:ea typeface="Tex Gyre Bonum"/>
              <a:cs typeface="Tex Gyre Bonum"/>
              <a:sym typeface="Tex Gyre Bonum"/>
            </a:endParaRPr>
          </a:p>
          <a:p>
            <a:pPr marL="457200" indent="-457200" algn="l">
              <a:lnSpc>
                <a:spcPts val="4011"/>
              </a:lnSpc>
              <a:spcBef>
                <a:spcPct val="0"/>
              </a:spcBef>
              <a:buFont typeface="Arial" panose="020B0604020202020204" pitchFamily="34" charset="0"/>
              <a:buChar char="•"/>
            </a:pPr>
            <a:r>
              <a:rPr lang="en-US" sz="3342" dirty="0">
                <a:solidFill>
                  <a:srgbClr val="000000"/>
                </a:solidFill>
                <a:latin typeface="Tex Gyre Bonum"/>
                <a:ea typeface="Tex Gyre Bonum"/>
                <a:cs typeface="Tex Gyre Bonum"/>
                <a:sym typeface="Tex Gyre Bonum"/>
              </a:rPr>
              <a:t>Helps students gain project experience valued by recruiters.</a:t>
            </a:r>
          </a:p>
        </p:txBody>
      </p:sp>
      <p:sp>
        <p:nvSpPr>
          <p:cNvPr id="7" name="TextBox 7"/>
          <p:cNvSpPr txBox="1"/>
          <p:nvPr/>
        </p:nvSpPr>
        <p:spPr>
          <a:xfrm>
            <a:off x="3419779" y="882699"/>
            <a:ext cx="10769957" cy="3400842"/>
          </a:xfrm>
          <a:prstGeom prst="rect">
            <a:avLst/>
          </a:prstGeom>
        </p:spPr>
        <p:txBody>
          <a:bodyPr lIns="0" tIns="0" rIns="0" bIns="0" rtlCol="0" anchor="t">
            <a:spAutoFit/>
          </a:bodyPr>
          <a:lstStyle/>
          <a:p>
            <a:pPr algn="ctr">
              <a:lnSpc>
                <a:spcPts val="9116"/>
              </a:lnSpc>
            </a:pPr>
            <a:r>
              <a:rPr lang="en-US" sz="9116" b="1" spc="-309" dirty="0" err="1">
                <a:solidFill>
                  <a:srgbClr val="2E2E2E"/>
                </a:solidFill>
                <a:latin typeface="Montserrat Bold"/>
                <a:ea typeface="Montserrat Bold"/>
                <a:cs typeface="Montserrat Bold"/>
                <a:sym typeface="Montserrat Bold"/>
              </a:rPr>
              <a:t>RNxG</a:t>
            </a:r>
            <a:r>
              <a:rPr lang="en-US" sz="9116" b="1" spc="-309" dirty="0">
                <a:solidFill>
                  <a:srgbClr val="2E2E2E"/>
                </a:solidFill>
                <a:latin typeface="Montserrat Bold"/>
                <a:ea typeface="Montserrat Bold"/>
                <a:cs typeface="Montserrat Bold"/>
                <a:sym typeface="Montserrat Bold"/>
              </a:rPr>
              <a:t> </a:t>
            </a:r>
          </a:p>
          <a:p>
            <a:pPr algn="ctr">
              <a:lnSpc>
                <a:spcPts val="8449"/>
              </a:lnSpc>
            </a:pPr>
            <a:endParaRPr lang="en-US" sz="9116" b="1" spc="-309" dirty="0">
              <a:solidFill>
                <a:srgbClr val="2E2E2E"/>
              </a:solidFill>
              <a:latin typeface="Montserrat Bold"/>
              <a:ea typeface="Montserrat Bold"/>
              <a:cs typeface="Montserrat Bold"/>
              <a:sym typeface="Montserrat Bold"/>
            </a:endParaRPr>
          </a:p>
          <a:p>
            <a:pPr algn="ctr">
              <a:lnSpc>
                <a:spcPts val="8916"/>
              </a:lnSpc>
            </a:pPr>
            <a:endParaRPr lang="en-US" sz="9116" b="1" spc="-309" dirty="0">
              <a:solidFill>
                <a:srgbClr val="2E2E2E"/>
              </a:solidFill>
              <a:latin typeface="Montserrat Bold"/>
              <a:ea typeface="Montserrat Bold"/>
              <a:cs typeface="Montserrat Bold"/>
              <a:sym typeface="Montserrat Bo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EFEC"/>
        </a:solidFill>
        <a:effectLst/>
      </p:bgPr>
    </p:bg>
    <p:spTree>
      <p:nvGrpSpPr>
        <p:cNvPr id="1" name=""/>
        <p:cNvGrpSpPr/>
        <p:nvPr/>
      </p:nvGrpSpPr>
      <p:grpSpPr>
        <a:xfrm>
          <a:off x="0" y="0"/>
          <a:ext cx="0" cy="0"/>
          <a:chOff x="0" y="0"/>
          <a:chExt cx="0" cy="0"/>
        </a:xfrm>
      </p:grpSpPr>
      <p:sp>
        <p:nvSpPr>
          <p:cNvPr id="2" name="Freeform 2"/>
          <p:cNvSpPr/>
          <p:nvPr/>
        </p:nvSpPr>
        <p:spPr>
          <a:xfrm rot="1415601">
            <a:off x="11200609" y="-8661100"/>
            <a:ext cx="15132390" cy="15132390"/>
          </a:xfrm>
          <a:custGeom>
            <a:avLst/>
            <a:gdLst/>
            <a:ahLst/>
            <a:cxnLst/>
            <a:rect l="l" t="t" r="r" b="b"/>
            <a:pathLst>
              <a:path w="15132390" h="15132390">
                <a:moveTo>
                  <a:pt x="0" y="0"/>
                </a:moveTo>
                <a:lnTo>
                  <a:pt x="15132390" y="0"/>
                </a:lnTo>
                <a:lnTo>
                  <a:pt x="15132390" y="15132390"/>
                </a:lnTo>
                <a:lnTo>
                  <a:pt x="0" y="15132390"/>
                </a:lnTo>
                <a:lnTo>
                  <a:pt x="0"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9975434">
            <a:off x="3511542" y="6425317"/>
            <a:ext cx="12269998" cy="12269998"/>
          </a:xfrm>
          <a:custGeom>
            <a:avLst/>
            <a:gdLst/>
            <a:ahLst/>
            <a:cxnLst/>
            <a:rect l="l" t="t" r="r" b="b"/>
            <a:pathLst>
              <a:path w="12269998" h="12269998">
                <a:moveTo>
                  <a:pt x="0" y="0"/>
                </a:moveTo>
                <a:lnTo>
                  <a:pt x="12269998" y="0"/>
                </a:lnTo>
                <a:lnTo>
                  <a:pt x="12269998" y="12269998"/>
                </a:lnTo>
                <a:lnTo>
                  <a:pt x="0" y="12269998"/>
                </a:lnTo>
                <a:lnTo>
                  <a:pt x="0"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1795323">
            <a:off x="-8621604" y="-11367032"/>
            <a:ext cx="16539127" cy="16539127"/>
          </a:xfrm>
          <a:custGeom>
            <a:avLst/>
            <a:gdLst/>
            <a:ahLst/>
            <a:cxnLst/>
            <a:rect l="l" t="t" r="r" b="b"/>
            <a:pathLst>
              <a:path w="16539127" h="16539127">
                <a:moveTo>
                  <a:pt x="0" y="0"/>
                </a:moveTo>
                <a:lnTo>
                  <a:pt x="16539128" y="0"/>
                </a:lnTo>
                <a:lnTo>
                  <a:pt x="16539128" y="16539127"/>
                </a:lnTo>
                <a:lnTo>
                  <a:pt x="0" y="16539127"/>
                </a:lnTo>
                <a:lnTo>
                  <a:pt x="0" y="0"/>
                </a:lnTo>
                <a:close/>
              </a:path>
            </a:pathLst>
          </a:custGeom>
          <a:blipFill>
            <a:blip r:embed="rId6">
              <a:alphaModFix amt="47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AutoShape 5"/>
          <p:cNvSpPr/>
          <p:nvPr/>
        </p:nvSpPr>
        <p:spPr>
          <a:xfrm flipV="1">
            <a:off x="7744025" y="9831912"/>
            <a:ext cx="0" cy="407463"/>
          </a:xfrm>
          <a:prstGeom prst="line">
            <a:avLst/>
          </a:prstGeom>
          <a:ln w="38100" cap="flat">
            <a:solidFill>
              <a:srgbClr val="FAFAFA"/>
            </a:solidFill>
            <a:prstDash val="solid"/>
            <a:headEnd type="none" w="sm" len="sm"/>
            <a:tailEnd type="none" w="sm" len="sm"/>
          </a:ln>
        </p:spPr>
        <p:txBody>
          <a:bodyPr/>
          <a:lstStyle/>
          <a:p>
            <a:endParaRPr lang="en-US"/>
          </a:p>
        </p:txBody>
      </p:sp>
      <p:sp>
        <p:nvSpPr>
          <p:cNvPr id="6" name="TextBox 6"/>
          <p:cNvSpPr txBox="1"/>
          <p:nvPr/>
        </p:nvSpPr>
        <p:spPr>
          <a:xfrm>
            <a:off x="2633806" y="2921735"/>
            <a:ext cx="13691440" cy="4848187"/>
          </a:xfrm>
          <a:prstGeom prst="rect">
            <a:avLst/>
          </a:prstGeom>
        </p:spPr>
        <p:txBody>
          <a:bodyPr wrap="square" lIns="0" tIns="0" rIns="0" bIns="0" rtlCol="0" anchor="t">
            <a:spAutoFit/>
          </a:bodyPr>
          <a:lstStyle/>
          <a:p>
            <a:pPr marL="457200" indent="-457200" algn="l">
              <a:lnSpc>
                <a:spcPts val="3771"/>
              </a:lnSpc>
              <a:spcBef>
                <a:spcPct val="0"/>
              </a:spcBef>
              <a:buFont typeface="Arial" panose="020B0604020202020204" pitchFamily="34" charset="0"/>
              <a:buChar char="•"/>
            </a:pPr>
            <a:r>
              <a:rPr lang="en-US" sz="3142" dirty="0">
                <a:solidFill>
                  <a:srgbClr val="000000"/>
                </a:solidFill>
                <a:latin typeface="Tex Gyre Bonum"/>
                <a:ea typeface="Tex Gyre Bonum"/>
                <a:cs typeface="Tex Gyre Bonum"/>
                <a:sym typeface="Tex Gyre Bonum"/>
              </a:rPr>
              <a:t> Strengthens programming &amp; software development skills.</a:t>
            </a:r>
          </a:p>
          <a:p>
            <a:pPr marL="457200" indent="-457200" algn="l">
              <a:lnSpc>
                <a:spcPts val="3771"/>
              </a:lnSpc>
              <a:spcBef>
                <a:spcPct val="0"/>
              </a:spcBef>
              <a:buFont typeface="Arial" panose="020B0604020202020204" pitchFamily="34" charset="0"/>
              <a:buChar char="•"/>
            </a:pPr>
            <a:endParaRPr lang="en-US" sz="3142" dirty="0">
              <a:solidFill>
                <a:srgbClr val="000000"/>
              </a:solidFill>
              <a:latin typeface="Tex Gyre Bonum"/>
              <a:ea typeface="Tex Gyre Bonum"/>
              <a:cs typeface="Tex Gyre Bonum"/>
              <a:sym typeface="Tex Gyre Bonum"/>
            </a:endParaRPr>
          </a:p>
          <a:p>
            <a:pPr marL="457200" indent="-457200" algn="l">
              <a:lnSpc>
                <a:spcPts val="3771"/>
              </a:lnSpc>
              <a:spcBef>
                <a:spcPct val="0"/>
              </a:spcBef>
              <a:buFont typeface="Arial" panose="020B0604020202020204" pitchFamily="34" charset="0"/>
              <a:buChar char="•"/>
            </a:pPr>
            <a:r>
              <a:rPr lang="en-US" sz="3142" dirty="0">
                <a:solidFill>
                  <a:srgbClr val="000000"/>
                </a:solidFill>
                <a:latin typeface="Tex Gyre Bonum"/>
                <a:ea typeface="Tex Gyre Bonum"/>
                <a:cs typeface="Tex Gyre Bonum"/>
                <a:sym typeface="Tex Gyre Bonum"/>
              </a:rPr>
              <a:t>Exposure to hackathons, coding competitions &amp; seminars → improves logical thinking &amp; coding speed (key in placement tests).</a:t>
            </a:r>
          </a:p>
          <a:p>
            <a:pPr marL="457200" indent="-457200" algn="l">
              <a:lnSpc>
                <a:spcPts val="3771"/>
              </a:lnSpc>
              <a:spcBef>
                <a:spcPct val="0"/>
              </a:spcBef>
              <a:buFont typeface="Arial" panose="020B0604020202020204" pitchFamily="34" charset="0"/>
              <a:buChar char="•"/>
            </a:pPr>
            <a:endParaRPr lang="en-US" sz="3142" dirty="0">
              <a:solidFill>
                <a:srgbClr val="000000"/>
              </a:solidFill>
              <a:latin typeface="Tex Gyre Bonum"/>
              <a:ea typeface="Tex Gyre Bonum"/>
              <a:cs typeface="Tex Gyre Bonum"/>
              <a:sym typeface="Tex Gyre Bonum"/>
            </a:endParaRPr>
          </a:p>
          <a:p>
            <a:pPr marL="457200" indent="-457200" algn="l">
              <a:lnSpc>
                <a:spcPts val="3771"/>
              </a:lnSpc>
              <a:spcBef>
                <a:spcPct val="0"/>
              </a:spcBef>
              <a:buFont typeface="Arial" panose="020B0604020202020204" pitchFamily="34" charset="0"/>
              <a:buChar char="•"/>
            </a:pPr>
            <a:r>
              <a:rPr lang="en-US" sz="3142" dirty="0">
                <a:solidFill>
                  <a:srgbClr val="000000"/>
                </a:solidFill>
                <a:latin typeface="Tex Gyre Bonum"/>
                <a:ea typeface="Tex Gyre Bonum"/>
                <a:cs typeface="Tex Gyre Bonum"/>
                <a:sym typeface="Tex Gyre Bonum"/>
              </a:rPr>
              <a:t>Enhances team collaboration &amp; working on live projects.</a:t>
            </a:r>
          </a:p>
          <a:p>
            <a:pPr marL="457200" indent="-457200" algn="l">
              <a:lnSpc>
                <a:spcPts val="3771"/>
              </a:lnSpc>
              <a:spcBef>
                <a:spcPct val="0"/>
              </a:spcBef>
              <a:buFont typeface="Arial" panose="020B0604020202020204" pitchFamily="34" charset="0"/>
              <a:buChar char="•"/>
            </a:pPr>
            <a:endParaRPr lang="en-US" sz="3142" dirty="0">
              <a:solidFill>
                <a:srgbClr val="000000"/>
              </a:solidFill>
              <a:latin typeface="Tex Gyre Bonum"/>
              <a:ea typeface="Tex Gyre Bonum"/>
              <a:cs typeface="Tex Gyre Bonum"/>
              <a:sym typeface="Tex Gyre Bonum"/>
            </a:endParaRPr>
          </a:p>
          <a:p>
            <a:pPr marL="457200" indent="-457200" algn="l">
              <a:lnSpc>
                <a:spcPts val="3771"/>
              </a:lnSpc>
              <a:spcBef>
                <a:spcPct val="0"/>
              </a:spcBef>
              <a:buFont typeface="Arial" panose="020B0604020202020204" pitchFamily="34" charset="0"/>
              <a:buChar char="•"/>
            </a:pPr>
            <a:r>
              <a:rPr lang="en-US" sz="3142" dirty="0">
                <a:solidFill>
                  <a:srgbClr val="000000"/>
                </a:solidFill>
                <a:latin typeface="Tex Gyre Bonum"/>
                <a:ea typeface="Tex Gyre Bonum"/>
                <a:cs typeface="Tex Gyre Bonum"/>
                <a:sym typeface="Tex Gyre Bonum"/>
              </a:rPr>
              <a:t>Provides networking with other programmers → peer learning &amp; interview preparation.</a:t>
            </a:r>
          </a:p>
          <a:p>
            <a:pPr algn="l">
              <a:lnSpc>
                <a:spcPts val="3771"/>
              </a:lnSpc>
              <a:spcBef>
                <a:spcPct val="0"/>
              </a:spcBef>
            </a:pPr>
            <a:endParaRPr lang="en-US" sz="3142" dirty="0">
              <a:solidFill>
                <a:srgbClr val="000000"/>
              </a:solidFill>
              <a:latin typeface="Tex Gyre Bonum"/>
              <a:ea typeface="Tex Gyre Bonum"/>
              <a:cs typeface="Tex Gyre Bonum"/>
              <a:sym typeface="Tex Gyre Bonum"/>
            </a:endParaRPr>
          </a:p>
        </p:txBody>
      </p:sp>
      <p:sp>
        <p:nvSpPr>
          <p:cNvPr id="7" name="TextBox 7"/>
          <p:cNvSpPr txBox="1"/>
          <p:nvPr/>
        </p:nvSpPr>
        <p:spPr>
          <a:xfrm>
            <a:off x="3419778" y="921765"/>
            <a:ext cx="10769957" cy="1212632"/>
          </a:xfrm>
          <a:prstGeom prst="rect">
            <a:avLst/>
          </a:prstGeom>
        </p:spPr>
        <p:txBody>
          <a:bodyPr lIns="0" tIns="0" rIns="0" bIns="0" rtlCol="0" anchor="t">
            <a:spAutoFit/>
          </a:bodyPr>
          <a:lstStyle/>
          <a:p>
            <a:pPr algn="ctr">
              <a:lnSpc>
                <a:spcPts val="9116"/>
              </a:lnSpc>
            </a:pPr>
            <a:r>
              <a:rPr lang="en-US" sz="9116" b="1" spc="-309" dirty="0">
                <a:solidFill>
                  <a:srgbClr val="2E2E2E"/>
                </a:solidFill>
                <a:latin typeface="Montserrat Bold"/>
                <a:ea typeface="Montserrat Bold"/>
                <a:cs typeface="Montserrat Bold"/>
                <a:sym typeface="Montserrat Bold"/>
              </a:rPr>
              <a:t>HACKIT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415601">
            <a:off x="11200609" y="-8661100"/>
            <a:ext cx="15132390" cy="15132390"/>
          </a:xfrm>
          <a:custGeom>
            <a:avLst/>
            <a:gdLst/>
            <a:ahLst/>
            <a:cxnLst/>
            <a:rect l="l" t="t" r="r" b="b"/>
            <a:pathLst>
              <a:path w="15132390" h="15132390">
                <a:moveTo>
                  <a:pt x="0" y="0"/>
                </a:moveTo>
                <a:lnTo>
                  <a:pt x="15132390" y="0"/>
                </a:lnTo>
                <a:lnTo>
                  <a:pt x="15132390" y="15132390"/>
                </a:lnTo>
                <a:lnTo>
                  <a:pt x="0" y="15132390"/>
                </a:lnTo>
                <a:lnTo>
                  <a:pt x="0"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9975434">
            <a:off x="3511542" y="6425317"/>
            <a:ext cx="12269998" cy="12269998"/>
          </a:xfrm>
          <a:custGeom>
            <a:avLst/>
            <a:gdLst/>
            <a:ahLst/>
            <a:cxnLst/>
            <a:rect l="l" t="t" r="r" b="b"/>
            <a:pathLst>
              <a:path w="12269998" h="12269998">
                <a:moveTo>
                  <a:pt x="0" y="0"/>
                </a:moveTo>
                <a:lnTo>
                  <a:pt x="12269998" y="0"/>
                </a:lnTo>
                <a:lnTo>
                  <a:pt x="12269998" y="12269998"/>
                </a:lnTo>
                <a:lnTo>
                  <a:pt x="0" y="12269998"/>
                </a:lnTo>
                <a:lnTo>
                  <a:pt x="0"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1795323">
            <a:off x="-8621604" y="-11367032"/>
            <a:ext cx="16539127" cy="16539127"/>
          </a:xfrm>
          <a:custGeom>
            <a:avLst/>
            <a:gdLst/>
            <a:ahLst/>
            <a:cxnLst/>
            <a:rect l="l" t="t" r="r" b="b"/>
            <a:pathLst>
              <a:path w="16539127" h="16539127">
                <a:moveTo>
                  <a:pt x="0" y="0"/>
                </a:moveTo>
                <a:lnTo>
                  <a:pt x="16539128" y="0"/>
                </a:lnTo>
                <a:lnTo>
                  <a:pt x="16539128" y="16539127"/>
                </a:lnTo>
                <a:lnTo>
                  <a:pt x="0" y="16539127"/>
                </a:lnTo>
                <a:lnTo>
                  <a:pt x="0" y="0"/>
                </a:lnTo>
                <a:close/>
              </a:path>
            </a:pathLst>
          </a:custGeom>
          <a:blipFill>
            <a:blip r:embed="rId6">
              <a:alphaModFix amt="47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AutoShape 5"/>
          <p:cNvSpPr/>
          <p:nvPr/>
        </p:nvSpPr>
        <p:spPr>
          <a:xfrm flipV="1">
            <a:off x="7744025" y="9831912"/>
            <a:ext cx="0" cy="407463"/>
          </a:xfrm>
          <a:prstGeom prst="line">
            <a:avLst/>
          </a:prstGeom>
          <a:ln w="38100" cap="flat">
            <a:solidFill>
              <a:srgbClr val="FAFAFA"/>
            </a:solidFill>
            <a:prstDash val="solid"/>
            <a:headEnd type="none" w="sm" len="sm"/>
            <a:tailEnd type="none" w="sm" len="sm"/>
          </a:ln>
        </p:spPr>
        <p:txBody>
          <a:bodyPr/>
          <a:lstStyle/>
          <a:p>
            <a:endParaRPr lang="en-US"/>
          </a:p>
        </p:txBody>
      </p:sp>
      <p:sp>
        <p:nvSpPr>
          <p:cNvPr id="6" name="TextBox 6"/>
          <p:cNvSpPr txBox="1"/>
          <p:nvPr/>
        </p:nvSpPr>
        <p:spPr>
          <a:xfrm>
            <a:off x="2160408" y="2870362"/>
            <a:ext cx="14902949" cy="6438366"/>
          </a:xfrm>
          <a:prstGeom prst="rect">
            <a:avLst/>
          </a:prstGeom>
        </p:spPr>
        <p:txBody>
          <a:bodyPr lIns="0" tIns="0" rIns="0" bIns="0" rtlCol="0" anchor="t">
            <a:spAutoFit/>
          </a:bodyPr>
          <a:lstStyle/>
          <a:p>
            <a:pPr marL="457200" indent="-457200" algn="l">
              <a:lnSpc>
                <a:spcPts val="3891"/>
              </a:lnSpc>
              <a:spcBef>
                <a:spcPct val="0"/>
              </a:spcBef>
              <a:buFont typeface="Arial" panose="020B0604020202020204" pitchFamily="34" charset="0"/>
              <a:buChar char="•"/>
            </a:pPr>
            <a:r>
              <a:rPr lang="en-US" sz="3242" dirty="0">
                <a:solidFill>
                  <a:srgbClr val="000000"/>
                </a:solidFill>
                <a:latin typeface="Tex Gyre Bonum"/>
                <a:ea typeface="Tex Gyre Bonum"/>
                <a:cs typeface="Tex Gyre Bonum"/>
                <a:sym typeface="Tex Gyre Bonum"/>
              </a:rPr>
              <a:t>Analytical Skills – Problem-solving, logical reasoning, and data analysis.</a:t>
            </a:r>
          </a:p>
          <a:p>
            <a:pPr marL="457200" indent="-457200" algn="l">
              <a:lnSpc>
                <a:spcPts val="3891"/>
              </a:lnSpc>
              <a:spcBef>
                <a:spcPct val="0"/>
              </a:spcBef>
              <a:buFont typeface="Arial" panose="020B0604020202020204" pitchFamily="34" charset="0"/>
              <a:buChar char="•"/>
            </a:pPr>
            <a:endParaRPr lang="en-US" sz="3242" dirty="0">
              <a:solidFill>
                <a:srgbClr val="000000"/>
              </a:solidFill>
              <a:latin typeface="Tex Gyre Bonum"/>
              <a:ea typeface="Tex Gyre Bonum"/>
              <a:cs typeface="Tex Gyre Bonum"/>
              <a:sym typeface="Tex Gyre Bonum"/>
            </a:endParaRPr>
          </a:p>
          <a:p>
            <a:pPr marL="457200" indent="-457200" algn="l">
              <a:lnSpc>
                <a:spcPts val="3891"/>
              </a:lnSpc>
              <a:spcBef>
                <a:spcPct val="0"/>
              </a:spcBef>
              <a:buFont typeface="Arial" panose="020B0604020202020204" pitchFamily="34" charset="0"/>
              <a:buChar char="•"/>
            </a:pPr>
            <a:r>
              <a:rPr lang="en-US" sz="3242" dirty="0">
                <a:solidFill>
                  <a:srgbClr val="000000"/>
                </a:solidFill>
                <a:latin typeface="Tex Gyre Bonum"/>
                <a:ea typeface="Tex Gyre Bonum"/>
                <a:cs typeface="Tex Gyre Bonum"/>
                <a:sym typeface="Tex Gyre Bonum"/>
              </a:rPr>
              <a:t>Teamwork – Collaboration and communication through projects &amp; outreach.</a:t>
            </a:r>
          </a:p>
          <a:p>
            <a:pPr marL="457200" indent="-457200" algn="l">
              <a:lnSpc>
                <a:spcPts val="3891"/>
              </a:lnSpc>
              <a:spcBef>
                <a:spcPct val="0"/>
              </a:spcBef>
              <a:buFont typeface="Arial" panose="020B0604020202020204" pitchFamily="34" charset="0"/>
              <a:buChar char="•"/>
            </a:pPr>
            <a:endParaRPr lang="en-US" sz="3242" dirty="0">
              <a:solidFill>
                <a:srgbClr val="000000"/>
              </a:solidFill>
              <a:latin typeface="Tex Gyre Bonum"/>
              <a:ea typeface="Tex Gyre Bonum"/>
              <a:cs typeface="Tex Gyre Bonum"/>
              <a:sym typeface="Tex Gyre Bonum"/>
            </a:endParaRPr>
          </a:p>
          <a:p>
            <a:pPr marL="457200" indent="-457200" algn="l">
              <a:lnSpc>
                <a:spcPts val="3891"/>
              </a:lnSpc>
              <a:spcBef>
                <a:spcPct val="0"/>
              </a:spcBef>
              <a:buFont typeface="Arial" panose="020B0604020202020204" pitchFamily="34" charset="0"/>
              <a:buChar char="•"/>
            </a:pPr>
            <a:r>
              <a:rPr lang="en-US" sz="3242" dirty="0">
                <a:solidFill>
                  <a:srgbClr val="000000"/>
                </a:solidFill>
                <a:latin typeface="Tex Gyre Bonum"/>
                <a:ea typeface="Tex Gyre Bonum"/>
                <a:cs typeface="Tex Gyre Bonum"/>
                <a:sym typeface="Tex Gyre Bonum"/>
              </a:rPr>
              <a:t>Innovation – Curiosity-driven, creative thinking for new ideas.</a:t>
            </a:r>
          </a:p>
          <a:p>
            <a:pPr marL="457200" indent="-457200" algn="l">
              <a:lnSpc>
                <a:spcPts val="3891"/>
              </a:lnSpc>
              <a:spcBef>
                <a:spcPct val="0"/>
              </a:spcBef>
              <a:buFont typeface="Arial" panose="020B0604020202020204" pitchFamily="34" charset="0"/>
              <a:buChar char="•"/>
            </a:pPr>
            <a:endParaRPr lang="en-US" sz="3242" dirty="0">
              <a:solidFill>
                <a:srgbClr val="000000"/>
              </a:solidFill>
              <a:latin typeface="Tex Gyre Bonum"/>
              <a:ea typeface="Tex Gyre Bonum"/>
              <a:cs typeface="Tex Gyre Bonum"/>
              <a:sym typeface="Tex Gyre Bonum"/>
            </a:endParaRPr>
          </a:p>
          <a:p>
            <a:pPr marL="457200" indent="-457200" algn="l">
              <a:lnSpc>
                <a:spcPts val="3891"/>
              </a:lnSpc>
              <a:spcBef>
                <a:spcPct val="0"/>
              </a:spcBef>
              <a:buFont typeface="Arial" panose="020B0604020202020204" pitchFamily="34" charset="0"/>
              <a:buChar char="•"/>
            </a:pPr>
            <a:r>
              <a:rPr lang="en-US" sz="3242" dirty="0">
                <a:solidFill>
                  <a:srgbClr val="000000"/>
                </a:solidFill>
                <a:latin typeface="Tex Gyre Bonum"/>
                <a:ea typeface="Tex Gyre Bonum"/>
                <a:cs typeface="Tex Gyre Bonum"/>
                <a:sym typeface="Tex Gyre Bonum"/>
              </a:rPr>
              <a:t>Communication – Ability to present complex concepts clearly.</a:t>
            </a:r>
          </a:p>
          <a:p>
            <a:pPr marL="457200" indent="-457200" algn="l">
              <a:lnSpc>
                <a:spcPts val="3891"/>
              </a:lnSpc>
              <a:spcBef>
                <a:spcPct val="0"/>
              </a:spcBef>
              <a:buFont typeface="Arial" panose="020B0604020202020204" pitchFamily="34" charset="0"/>
              <a:buChar char="•"/>
            </a:pPr>
            <a:endParaRPr lang="en-US" sz="3242" dirty="0">
              <a:solidFill>
                <a:srgbClr val="000000"/>
              </a:solidFill>
              <a:latin typeface="Tex Gyre Bonum"/>
              <a:ea typeface="Tex Gyre Bonum"/>
              <a:cs typeface="Tex Gyre Bonum"/>
              <a:sym typeface="Tex Gyre Bonum"/>
            </a:endParaRPr>
          </a:p>
          <a:p>
            <a:pPr marL="457200" indent="-457200" algn="l">
              <a:lnSpc>
                <a:spcPts val="3771"/>
              </a:lnSpc>
              <a:spcBef>
                <a:spcPct val="0"/>
              </a:spcBef>
              <a:buFont typeface="Arial" panose="020B0604020202020204" pitchFamily="34" charset="0"/>
              <a:buChar char="•"/>
            </a:pPr>
            <a:r>
              <a:rPr lang="en-US" sz="3142" dirty="0">
                <a:solidFill>
                  <a:srgbClr val="000000"/>
                </a:solidFill>
                <a:latin typeface="Tex Gyre Bonum"/>
                <a:ea typeface="Tex Gyre Bonum"/>
                <a:cs typeface="Tex Gyre Bonum"/>
                <a:sym typeface="Tex Gyre Bonum"/>
              </a:rPr>
              <a:t>Industry Relevance – Links to aerospace, data science, R&amp;D, and tech fields</a:t>
            </a:r>
          </a:p>
          <a:p>
            <a:pPr algn="l">
              <a:lnSpc>
                <a:spcPts val="3771"/>
              </a:lnSpc>
              <a:spcBef>
                <a:spcPct val="0"/>
              </a:spcBef>
            </a:pPr>
            <a:endParaRPr lang="en-US" sz="3142" dirty="0">
              <a:solidFill>
                <a:srgbClr val="000000"/>
              </a:solidFill>
              <a:latin typeface="Tex Gyre Bonum"/>
              <a:ea typeface="Tex Gyre Bonum"/>
              <a:cs typeface="Tex Gyre Bonum"/>
              <a:sym typeface="Tex Gyre Bonum"/>
            </a:endParaRPr>
          </a:p>
        </p:txBody>
      </p:sp>
      <p:sp>
        <p:nvSpPr>
          <p:cNvPr id="7" name="TextBox 7"/>
          <p:cNvSpPr txBox="1"/>
          <p:nvPr/>
        </p:nvSpPr>
        <p:spPr>
          <a:xfrm>
            <a:off x="6172200" y="621154"/>
            <a:ext cx="5543550" cy="1212632"/>
          </a:xfrm>
          <a:prstGeom prst="rect">
            <a:avLst/>
          </a:prstGeom>
        </p:spPr>
        <p:txBody>
          <a:bodyPr lIns="0" tIns="0" rIns="0" bIns="0" rtlCol="0" anchor="t">
            <a:spAutoFit/>
          </a:bodyPr>
          <a:lstStyle/>
          <a:p>
            <a:pPr algn="ctr">
              <a:lnSpc>
                <a:spcPts val="9116"/>
              </a:lnSpc>
              <a:spcBef>
                <a:spcPct val="0"/>
              </a:spcBef>
            </a:pPr>
            <a:r>
              <a:rPr lang="en-US" sz="9116" b="1" spc="-309" dirty="0">
                <a:solidFill>
                  <a:srgbClr val="000000"/>
                </a:solidFill>
                <a:latin typeface="Montserrat Bold"/>
                <a:ea typeface="Montserrat Bold"/>
                <a:cs typeface="Montserrat Bold"/>
                <a:sym typeface="Montserrat Bold"/>
              </a:rPr>
              <a:t>ANNTRIX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EFEC"/>
        </a:solidFill>
        <a:effectLst/>
      </p:bgPr>
    </p:bg>
    <p:spTree>
      <p:nvGrpSpPr>
        <p:cNvPr id="1" name=""/>
        <p:cNvGrpSpPr/>
        <p:nvPr/>
      </p:nvGrpSpPr>
      <p:grpSpPr>
        <a:xfrm>
          <a:off x="0" y="0"/>
          <a:ext cx="0" cy="0"/>
          <a:chOff x="0" y="0"/>
          <a:chExt cx="0" cy="0"/>
        </a:xfrm>
      </p:grpSpPr>
      <p:sp>
        <p:nvSpPr>
          <p:cNvPr id="2" name="AutoShape 2"/>
          <p:cNvSpPr/>
          <p:nvPr/>
        </p:nvSpPr>
        <p:spPr>
          <a:xfrm flipV="1">
            <a:off x="7744025" y="9831912"/>
            <a:ext cx="0" cy="407463"/>
          </a:xfrm>
          <a:prstGeom prst="line">
            <a:avLst/>
          </a:prstGeom>
          <a:ln w="38100" cap="flat">
            <a:solidFill>
              <a:srgbClr val="FAFAFA"/>
            </a:solidFill>
            <a:prstDash val="solid"/>
            <a:headEnd type="none" w="sm" len="sm"/>
            <a:tailEnd type="none" w="sm" len="sm"/>
          </a:ln>
        </p:spPr>
        <p:txBody>
          <a:bodyPr/>
          <a:lstStyle/>
          <a:p>
            <a:endParaRPr lang="en-US"/>
          </a:p>
        </p:txBody>
      </p:sp>
      <p:sp>
        <p:nvSpPr>
          <p:cNvPr id="3" name="TextBox 3"/>
          <p:cNvSpPr txBox="1"/>
          <p:nvPr/>
        </p:nvSpPr>
        <p:spPr>
          <a:xfrm>
            <a:off x="4618282" y="5213846"/>
            <a:ext cx="9051436" cy="3431678"/>
          </a:xfrm>
          <a:prstGeom prst="rect">
            <a:avLst/>
          </a:prstGeom>
        </p:spPr>
        <p:txBody>
          <a:bodyPr lIns="0" tIns="0" rIns="0" bIns="0" rtlCol="0" anchor="t">
            <a:spAutoFit/>
          </a:bodyPr>
          <a:lstStyle/>
          <a:p>
            <a:pPr algn="ctr">
              <a:lnSpc>
                <a:spcPts val="13230"/>
              </a:lnSpc>
            </a:pPr>
            <a:r>
              <a:rPr lang="en-US" sz="13230" b="1" spc="-449">
                <a:solidFill>
                  <a:srgbClr val="2E2E2E"/>
                </a:solidFill>
                <a:latin typeface="Montserrat Bold"/>
                <a:ea typeface="Montserrat Bold"/>
                <a:cs typeface="Montserrat Bold"/>
                <a:sym typeface="Montserrat Bold"/>
              </a:rPr>
              <a:t>THANK</a:t>
            </a:r>
          </a:p>
          <a:p>
            <a:pPr algn="ctr">
              <a:lnSpc>
                <a:spcPts val="13230"/>
              </a:lnSpc>
            </a:pPr>
            <a:r>
              <a:rPr lang="en-US" sz="13230" b="1" spc="-449">
                <a:solidFill>
                  <a:srgbClr val="2E2E2E"/>
                </a:solidFill>
                <a:latin typeface="Montserrat Bold"/>
                <a:ea typeface="Montserrat Bold"/>
                <a:cs typeface="Montserrat Bold"/>
                <a:sym typeface="Montserrat Bold"/>
              </a:rPr>
              <a:t>YOU</a:t>
            </a:r>
          </a:p>
        </p:txBody>
      </p:sp>
      <p:sp>
        <p:nvSpPr>
          <p:cNvPr id="4" name="Freeform 4"/>
          <p:cNvSpPr/>
          <p:nvPr/>
        </p:nvSpPr>
        <p:spPr>
          <a:xfrm>
            <a:off x="6959818" y="1028700"/>
            <a:ext cx="4037716" cy="4037716"/>
          </a:xfrm>
          <a:custGeom>
            <a:avLst/>
            <a:gdLst/>
            <a:ahLst/>
            <a:cxnLst/>
            <a:rect l="l" t="t" r="r" b="b"/>
            <a:pathLst>
              <a:path w="4037716" h="4037716">
                <a:moveTo>
                  <a:pt x="0" y="0"/>
                </a:moveTo>
                <a:lnTo>
                  <a:pt x="4037715" y="0"/>
                </a:lnTo>
                <a:lnTo>
                  <a:pt x="4037715" y="4037716"/>
                </a:lnTo>
                <a:lnTo>
                  <a:pt x="0" y="4037716"/>
                </a:lnTo>
                <a:lnTo>
                  <a:pt x="0" y="0"/>
                </a:lnTo>
                <a:close/>
              </a:path>
            </a:pathLst>
          </a:custGeom>
          <a:blipFill>
            <a:blip r:embed="rId2">
              <a:alphaModFix amt="89000"/>
            </a:blip>
            <a:stretch>
              <a:fillRect/>
            </a:stretch>
          </a:blipFill>
        </p:spPr>
        <p:txBody>
          <a:bodyPr/>
          <a:lstStyle/>
          <a:p>
            <a:endParaRPr lang="en-US"/>
          </a:p>
        </p:txBody>
      </p:sp>
      <p:sp>
        <p:nvSpPr>
          <p:cNvPr id="5" name="Freeform 5"/>
          <p:cNvSpPr/>
          <p:nvPr/>
        </p:nvSpPr>
        <p:spPr>
          <a:xfrm rot="1415601">
            <a:off x="11200609" y="-8661100"/>
            <a:ext cx="15132390" cy="15132390"/>
          </a:xfrm>
          <a:custGeom>
            <a:avLst/>
            <a:gdLst/>
            <a:ahLst/>
            <a:cxnLst/>
            <a:rect l="l" t="t" r="r" b="b"/>
            <a:pathLst>
              <a:path w="15132390" h="15132390">
                <a:moveTo>
                  <a:pt x="0" y="0"/>
                </a:moveTo>
                <a:lnTo>
                  <a:pt x="15132390" y="0"/>
                </a:lnTo>
                <a:lnTo>
                  <a:pt x="15132390" y="15132390"/>
                </a:lnTo>
                <a:lnTo>
                  <a:pt x="0" y="15132390"/>
                </a:lnTo>
                <a:lnTo>
                  <a:pt x="0" y="0"/>
                </a:lnTo>
                <a:close/>
              </a:path>
            </a:pathLst>
          </a:custGeom>
          <a:blipFill>
            <a:blip r:embed="rId3">
              <a:alphaModFix amt="47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1795323">
            <a:off x="-8621604" y="-11367032"/>
            <a:ext cx="16539127" cy="16539127"/>
          </a:xfrm>
          <a:custGeom>
            <a:avLst/>
            <a:gdLst/>
            <a:ahLst/>
            <a:cxnLst/>
            <a:rect l="l" t="t" r="r" b="b"/>
            <a:pathLst>
              <a:path w="16539127" h="16539127">
                <a:moveTo>
                  <a:pt x="0" y="0"/>
                </a:moveTo>
                <a:lnTo>
                  <a:pt x="16539128" y="0"/>
                </a:lnTo>
                <a:lnTo>
                  <a:pt x="16539128" y="16539127"/>
                </a:lnTo>
                <a:lnTo>
                  <a:pt x="0" y="16539127"/>
                </a:lnTo>
                <a:lnTo>
                  <a:pt x="0" y="0"/>
                </a:lnTo>
                <a:close/>
              </a:path>
            </a:pathLst>
          </a:custGeom>
          <a:blipFill>
            <a:blip r:embed="rId5">
              <a:alphaModFix amt="47000"/>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TotalTime>
  <Words>1289</Words>
  <Application>Microsoft Office PowerPoint</Application>
  <PresentationFormat>Custom</PresentationFormat>
  <Paragraphs>151</Paragraphs>
  <Slides>19</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30" baseType="lpstr">
      <vt:lpstr>Open Sauce Bold</vt:lpstr>
      <vt:lpstr>Courier New</vt:lpstr>
      <vt:lpstr>Montserrat Bold</vt:lpstr>
      <vt:lpstr>Open Sans Bold</vt:lpstr>
      <vt:lpstr>Tex Gyre Bonum</vt:lpstr>
      <vt:lpstr>Tex Gyre Bonum Bold</vt:lpstr>
      <vt:lpstr>Arial</vt:lpstr>
      <vt:lpstr>Wingdings</vt:lpstr>
      <vt:lpstr>Calibri</vt:lpstr>
      <vt:lpstr>Office Theme</vt:lpstr>
      <vt:lpstr>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 HOUSE MEET 2025</dc:title>
  <dc:creator>kharghosh</dc:creator>
  <cp:lastModifiedBy>T&amp;P</cp:lastModifiedBy>
  <cp:revision>19</cp:revision>
  <dcterms:created xsi:type="dcterms:W3CDTF">2006-08-16T00:00:00Z</dcterms:created>
  <dcterms:modified xsi:type="dcterms:W3CDTF">2026-09-04T09:33:59Z</dcterms:modified>
  <dc:identifier>DAGRxItxTeY</dc:identifier>
</cp:coreProperties>
</file>